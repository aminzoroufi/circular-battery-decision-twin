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df3657fdbb4552" /><Relationship Type="http://schemas.openxmlformats.org/officeDocument/2006/relationships/extended-properties" Target="/docProps/app.xml" Id="Rede666ead7d84717" /><Relationship Type="http://schemas.openxmlformats.org/officeDocument/2006/relationships/officeDocument" Target="/ppt/presentation.xml" Id="Re142d3ebb3cb4c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00fa2fb4b94b9c"/>
  </p:sldMasterIdLst>
  <p:notesMasterIdLst>
    <p:notesMasterId xmlns:r="http://schemas.openxmlformats.org/officeDocument/2006/relationships" r:id="Ra1f90a4f7bef42ba"/>
  </p:notesMasterIdLst>
  <p:sldIdLst>
    <p:sldId xmlns:r="http://schemas.openxmlformats.org/officeDocument/2006/relationships" id="256" r:id="Rd2ed216fbb07409d"/>
    <p:sldId xmlns:r="http://schemas.openxmlformats.org/officeDocument/2006/relationships" id="257" r:id="R6ff43adec813416b"/>
    <p:sldId xmlns:r="http://schemas.openxmlformats.org/officeDocument/2006/relationships" id="258" r:id="Rf8187b470917413b"/>
    <p:sldId xmlns:r="http://schemas.openxmlformats.org/officeDocument/2006/relationships" id="259" r:id="R85202c578a744ba1"/>
    <p:sldId xmlns:r="http://schemas.openxmlformats.org/officeDocument/2006/relationships" id="260" r:id="Rd5a8c1dd77fe4a7a"/>
    <p:sldId xmlns:r="http://schemas.openxmlformats.org/officeDocument/2006/relationships" id="261" r:id="Rf4453096faab44b6"/>
    <p:sldId xmlns:r="http://schemas.openxmlformats.org/officeDocument/2006/relationships" id="262" r:id="Rc06e3bfd894e48e8"/>
    <p:sldId xmlns:r="http://schemas.openxmlformats.org/officeDocument/2006/relationships" id="263" r:id="R1dea27a21b4f48e9"/>
    <p:sldId xmlns:r="http://schemas.openxmlformats.org/officeDocument/2006/relationships" id="264" r:id="R8c2fb4f3db4f4915"/>
    <p:sldId xmlns:r="http://schemas.openxmlformats.org/officeDocument/2006/relationships" id="265" r:id="R0622b5072ab3497d"/>
    <p:sldId xmlns:r="http://schemas.openxmlformats.org/officeDocument/2006/relationships" id="266" r:id="Ra963ec9b819e4c15"/>
    <p:sldId xmlns:r="http://schemas.openxmlformats.org/officeDocument/2006/relationships" id="267" r:id="Ref411a995d674ef8"/>
    <p:sldId xmlns:r="http://schemas.openxmlformats.org/officeDocument/2006/relationships" id="268" r:id="Rc921bd52e04d4015"/>
    <p:sldId xmlns:r="http://schemas.openxmlformats.org/officeDocument/2006/relationships" id="269" r:id="Ree31e8783b624a6b"/>
    <p:sldId xmlns:r="http://schemas.openxmlformats.org/officeDocument/2006/relationships" id="270" r:id="R91ca47fb4cb14d3e"/>
    <p:sldId xmlns:r="http://schemas.openxmlformats.org/officeDocument/2006/relationships" id="271" r:id="Re8d0988d72644617"/>
    <p:sldId xmlns:r="http://schemas.openxmlformats.org/officeDocument/2006/relationships" id="272" r:id="R4112e848bc2947c9"/>
    <p:sldId xmlns:r="http://schemas.openxmlformats.org/officeDocument/2006/relationships" id="273" r:id="Rbafb2715686c4479"/>
    <p:sldId xmlns:r="http://schemas.openxmlformats.org/officeDocument/2006/relationships" id="274" r:id="R1c92daef9fe14b3c"/>
    <p:sldId xmlns:r="http://schemas.openxmlformats.org/officeDocument/2006/relationships" id="275" r:id="R032d9731228f4ce2"/>
    <p:sldId xmlns:r="http://schemas.openxmlformats.org/officeDocument/2006/relationships" id="276" r:id="R383a1685bfa646e8"/>
    <p:sldId xmlns:r="http://schemas.openxmlformats.org/officeDocument/2006/relationships" id="277" r:id="R42382470c1fa48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f7c6521dc54eb5" /><Relationship Type="http://schemas.openxmlformats.org/officeDocument/2006/relationships/slideMaster" Target="/ppt/slideMasters/slideMaster1.xml" Id="R3100fa2fb4b94b9c" /><Relationship Type="http://schemas.openxmlformats.org/officeDocument/2006/relationships/notesMaster" Target="/ppt/notesMasters/notesMaster1.xml" Id="Ra1f90a4f7bef42ba" /><Relationship Type="http://schemas.openxmlformats.org/officeDocument/2006/relationships/presProps" Target="/ppt/presProps.xml" Id="R9d6aea241ce9426a" /><Relationship Type="http://schemas.openxmlformats.org/officeDocument/2006/relationships/tableStyles" Target="/ppt/tableStyles.xml" Id="R7b9a9ada100f44e0" /><Relationship Type="http://schemas.openxmlformats.org/officeDocument/2006/relationships/slide" Target="/ppt/slides/slide1.xml" Id="Rd2ed216fbb07409d" /><Relationship Type="http://schemas.openxmlformats.org/officeDocument/2006/relationships/slide" Target="/ppt/slides/slide2.xml" Id="R6ff43adec813416b" /><Relationship Type="http://schemas.openxmlformats.org/officeDocument/2006/relationships/slide" Target="/ppt/slides/slide3.xml" Id="Rf8187b470917413b" /><Relationship Type="http://schemas.openxmlformats.org/officeDocument/2006/relationships/slide" Target="/ppt/slides/slide4.xml" Id="R85202c578a744ba1" /><Relationship Type="http://schemas.openxmlformats.org/officeDocument/2006/relationships/slide" Target="/ppt/slides/slide5.xml" Id="Rd5a8c1dd77fe4a7a" /><Relationship Type="http://schemas.openxmlformats.org/officeDocument/2006/relationships/slide" Target="/ppt/slides/slide6.xml" Id="Rf4453096faab44b6" /><Relationship Type="http://schemas.openxmlformats.org/officeDocument/2006/relationships/slide" Target="/ppt/slides/slide7.xml" Id="Rc06e3bfd894e48e8" /><Relationship Type="http://schemas.openxmlformats.org/officeDocument/2006/relationships/slide" Target="/ppt/slides/slide8.xml" Id="R1dea27a21b4f48e9" /><Relationship Type="http://schemas.openxmlformats.org/officeDocument/2006/relationships/slide" Target="/ppt/slides/slide9.xml" Id="R8c2fb4f3db4f4915" /><Relationship Type="http://schemas.openxmlformats.org/officeDocument/2006/relationships/slide" Target="/ppt/slides/slide10.xml" Id="R0622b5072ab3497d" /><Relationship Type="http://schemas.openxmlformats.org/officeDocument/2006/relationships/slide" Target="/ppt/slides/slide11.xml" Id="Ra963ec9b819e4c15" /><Relationship Type="http://schemas.openxmlformats.org/officeDocument/2006/relationships/slide" Target="/ppt/slides/slide12.xml" Id="Ref411a995d674ef8" /><Relationship Type="http://schemas.openxmlformats.org/officeDocument/2006/relationships/slide" Target="/ppt/slides/slide13.xml" Id="Rc921bd52e04d4015" /><Relationship Type="http://schemas.openxmlformats.org/officeDocument/2006/relationships/slide" Target="/ppt/slides/slide14.xml" Id="Ree31e8783b624a6b" /><Relationship Type="http://schemas.openxmlformats.org/officeDocument/2006/relationships/slide" Target="/ppt/slides/slide15.xml" Id="R91ca47fb4cb14d3e" /><Relationship Type="http://schemas.openxmlformats.org/officeDocument/2006/relationships/slide" Target="/ppt/slides/slide16.xml" Id="Re8d0988d72644617" /><Relationship Type="http://schemas.openxmlformats.org/officeDocument/2006/relationships/slide" Target="/ppt/slides/slide17.xml" Id="R4112e848bc2947c9" /><Relationship Type="http://schemas.openxmlformats.org/officeDocument/2006/relationships/slide" Target="/ppt/slides/slide18.xml" Id="Rbafb2715686c4479" /><Relationship Type="http://schemas.openxmlformats.org/officeDocument/2006/relationships/slide" Target="/ppt/slides/slide19.xml" Id="R1c92daef9fe14b3c" /><Relationship Type="http://schemas.openxmlformats.org/officeDocument/2006/relationships/slide" Target="/ppt/slides/slide20.xml" Id="R032d9731228f4ce2" /><Relationship Type="http://schemas.openxmlformats.org/officeDocument/2006/relationships/slide" Target="/ppt/slides/slide21.xml" Id="R383a1685bfa646e8" /><Relationship Type="http://schemas.openxmlformats.org/officeDocument/2006/relationships/slide" Target="/ppt/slides/slide22.xml" Id="R42382470c1fa48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f2f358d8d346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cf0ae464134357" /><Relationship Type="http://schemas.openxmlformats.org/officeDocument/2006/relationships/notesMaster" Target="/ppt/notesMasters/notesMaster1.xml" Id="R8c40174e9ef7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8073b0001b4c66" /><Relationship Type="http://schemas.openxmlformats.org/officeDocument/2006/relationships/notesMaster" Target="/ppt/notesMasters/notesMaster1.xml" Id="R5838d23c6ba44c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0235da3ec473d" /><Relationship Type="http://schemas.openxmlformats.org/officeDocument/2006/relationships/notesMaster" Target="/ppt/notesMasters/notesMaster1.xml" Id="R8392204e485f4c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e00cc59a214f2a" /><Relationship Type="http://schemas.openxmlformats.org/officeDocument/2006/relationships/notesMaster" Target="/ppt/notesMasters/notesMaster1.xml" Id="R0d196ce49f6e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5a6b0cc3f744e6" /><Relationship Type="http://schemas.openxmlformats.org/officeDocument/2006/relationships/notesMaster" Target="/ppt/notesMasters/notesMaster1.xml" Id="R9308a823bed245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93f682f7314839" /><Relationship Type="http://schemas.openxmlformats.org/officeDocument/2006/relationships/notesMaster" Target="/ppt/notesMasters/notesMaster1.xml" Id="R0e73f22466494e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ef6dab20d94f7f" /><Relationship Type="http://schemas.openxmlformats.org/officeDocument/2006/relationships/notesMaster" Target="/ppt/notesMasters/notesMaster1.xml" Id="R6fdbfa2a0d154f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1b9577e3646f5" /><Relationship Type="http://schemas.openxmlformats.org/officeDocument/2006/relationships/notesMaster" Target="/ppt/notesMasters/notesMaster1.xml" Id="R1a175b15d786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43f8944fcc4097" /><Relationship Type="http://schemas.openxmlformats.org/officeDocument/2006/relationships/notesMaster" Target="/ppt/notesMasters/notesMaster1.xml" Id="R64cb20ee7eae45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d6bfe8613547d7" /><Relationship Type="http://schemas.openxmlformats.org/officeDocument/2006/relationships/notesMaster" Target="/ppt/notesMasters/notesMaster1.xml" Id="R981bd5027efe47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4ef3719aa24ae0" /><Relationship Type="http://schemas.openxmlformats.org/officeDocument/2006/relationships/notesMaster" Target="/ppt/notesMasters/notesMaster1.xml" Id="R141917839c8e48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4c60e1aaff4576" /><Relationship Type="http://schemas.openxmlformats.org/officeDocument/2006/relationships/notesMaster" Target="/ppt/notesMasters/notesMaster1.xml" Id="R694178a3e2fc44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85e113a90f47a2" /><Relationship Type="http://schemas.openxmlformats.org/officeDocument/2006/relationships/notesMaster" Target="/ppt/notesMasters/notesMaster1.xml" Id="R0207559ac90846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a961f6f0b14d9e" /><Relationship Type="http://schemas.openxmlformats.org/officeDocument/2006/relationships/notesMaster" Target="/ppt/notesMasters/notesMaster1.xml" Id="R5f388147237445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fdcb101df74f71" /><Relationship Type="http://schemas.openxmlformats.org/officeDocument/2006/relationships/notesMaster" Target="/ppt/notesMasters/notesMaster1.xml" Id="R9f566742bc6246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acb197fcfc4dea" /><Relationship Type="http://schemas.openxmlformats.org/officeDocument/2006/relationships/notesMaster" Target="/ppt/notesMasters/notesMaster1.xml" Id="R84cbbf25de814b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4646219a074334" /><Relationship Type="http://schemas.openxmlformats.org/officeDocument/2006/relationships/notesMaster" Target="/ppt/notesMasters/notesMaster1.xml" Id="Reeb6e8649f7946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3d7f739db64999" /><Relationship Type="http://schemas.openxmlformats.org/officeDocument/2006/relationships/notesMaster" Target="/ppt/notesMasters/notesMaster1.xml" Id="Rff7a2293470548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ccfdfc457645ae" /><Relationship Type="http://schemas.openxmlformats.org/officeDocument/2006/relationships/notesMaster" Target="/ppt/notesMasters/notesMaster1.xml" Id="R7c6f744671d24f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f6f260ac034db0" /><Relationship Type="http://schemas.openxmlformats.org/officeDocument/2006/relationships/notesMaster" Target="/ppt/notesMasters/notesMaster1.xml" Id="Ree90c623638f48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f8f8688f0a47c9" /><Relationship Type="http://schemas.openxmlformats.org/officeDocument/2006/relationships/notesMaster" Target="/ppt/notesMasters/notesMaster1.xml" Id="R48099e5c65844f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7976cd49f743c4" /><Relationship Type="http://schemas.openxmlformats.org/officeDocument/2006/relationships/notesMaster" Target="/ppt/notesMasters/notesMaster1.xml" Id="R4050eb067065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idea: an automated decision-support pipeline for battery reuse, remanufacturing, recycling, and quarantine.</a:t>
            </a:r>
          </a:p>
          <a:p xmlns:a="http://schemas.openxmlformats.org/drawingml/2006/main">
            <a:r>
              <a:t>Emphasize that the project combines computer vision, battery health prediction, backend APIs, and a Unity digital twin.</a:t>
            </a:r>
          </a:p>
          <a:p xmlns:a="http://schemas.openxmlformats.org/drawingml/2006/main">
            <a:r>
              <a:t>Suggested animation: title first, then subtitle, then the four pipeline pills.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around safety and material recovery.</a:t>
            </a:r>
          </a:p>
          <a:p xmlns:a="http://schemas.openxmlformats.org/drawingml/2006/main">
            <a:r>
              <a:t>Make clear that the project addresses decision support, not full industrial certification.</a:t>
            </a:r>
          </a:p>
          <a:p xmlns:a="http://schemas.openxmlformats.org/drawingml/2006/main">
            <a:r>
              <a:t>Suggested animation: reveal the three problem cards one by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end-to-end pipeline from the unknown battery to the sorting bin.</a:t>
            </a:r>
          </a:p>
          <a:p xmlns:a="http://schemas.openxmlformats.org/drawingml/2006/main">
            <a:r>
              <a:t>Stress the separation of responsibilities: CV for form factor, ML for health, rules for safety.</a:t>
            </a:r>
          </a:p>
          <a:p xmlns:a="http://schemas.openxmlformats.org/drawingml/2006/main">
            <a:r>
              <a:t>Suggested animation: follow the arrows from left to right.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RecyBat24 provides the visible battery form factor data.</a:t>
            </a:r>
          </a:p>
          <a:p xmlns:a="http://schemas.openxmlformats.org/drawingml/2006/main">
            <a:r>
              <a:t>Clarify that filenames are not used for runtime prediction, avoiding label leakage.</a:t>
            </a:r>
          </a:p>
          <a:p xmlns:a="http://schemas.openxmlformats.org/drawingml/2006/main">
            <a:r>
              <a:t>Mention that the dataset is useful for a prototype but small for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NASA was selected: available, capacity-based, and useful for SOH.</a:t>
            </a:r>
          </a:p>
          <a:p xmlns:a="http://schemas.openxmlformats.org/drawingml/2006/main">
            <a:r>
              <a:t>Be honest that CALCE and Oxford are future extensions for broader form-factor coverage.</a:t>
            </a:r>
          </a:p>
          <a:p xmlns:a="http://schemas.openxmlformats.org/drawingml/2006/main">
            <a:r>
              <a:t>Suggested animation: show selected data, rows, target,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key defense slide.</a:t>
            </a:r>
          </a:p>
          <a:p xmlns:a="http://schemas.openxmlformats.org/drawingml/2006/main">
            <a:r>
              <a:t>Make the technical boundary very explicit: image for shape, sensors for health, combined data for route.</a:t>
            </a:r>
          </a:p>
          <a:p xmlns:a="http://schemas.openxmlformats.org/drawingml/2006/main">
            <a:r>
              <a:t>Suggested animation: image path, health path, then decision node.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system as coupled services rather than a monolithic demo.</a:t>
            </a:r>
          </a:p>
          <a:p xmlns:a="http://schemas.openxmlformats.org/drawingml/2006/main">
            <a:r>
              <a:t>Mention the main implemented files if asked: backend/main.py, backend/model.py, backend/ml/soh_model.py, Unity C# scripts.</a:t>
            </a:r>
          </a:p>
          <a:p xmlns:a="http://schemas.openxmlformats.org/drawingml/2006/main">
            <a:r>
              <a:t>Suggested animation: top row first, then bottom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CV pipeline from image to class output.</a:t>
            </a:r>
          </a:p>
          <a:p xmlns:a="http://schemas.openxmlformats.org/drawingml/2006/main">
            <a:r>
              <a:t>Emphasize that HOG is appropriate because the classes differ by geometry and edge structure.</a:t>
            </a:r>
          </a:p>
          <a:p xmlns:a="http://schemas.openxmlformats.org/drawingml/2006/main">
            <a:r>
              <a:t>Note dataset size as a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passport as the data contract around a battery.</a:t>
            </a:r>
          </a:p>
          <a:p xmlns:a="http://schemas.openxmlformats.org/drawingml/2006/main">
            <a:r>
              <a:t>Explain that it is useful for traceability, audit, and operator confidence.</a:t>
            </a:r>
          </a:p>
          <a:p xmlns:a="http://schemas.openxmlformats.org/drawingml/2006/main">
            <a:r>
              <a:t>Be clear that some values are mock in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SOH formula first, then the machine learning inference problem.</a:t>
            </a:r>
          </a:p>
          <a:p xmlns:a="http://schemas.openxmlformats.org/drawingml/2006/main">
            <a:r>
              <a:t>Clarify that capacity is available in training but not always at sorting-line inference.</a:t>
            </a:r>
          </a:p>
          <a:p xmlns:a="http://schemas.openxmlformats.org/drawingml/2006/main">
            <a:r>
              <a:t>Suggested animation: formula, training target, inference inputs,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how many models were tested and why.</a:t>
            </a:r>
          </a:p>
          <a:p xmlns:a="http://schemas.openxmlformats.org/drawingml/2006/main">
            <a:r>
              <a:t>Mention that XGBoost/LightGBM are optional in the script if installed, but not present in this environment.</a:t>
            </a:r>
          </a:p>
          <a:p xmlns:a="http://schemas.openxmlformats.org/drawingml/2006/main">
            <a:r>
              <a:t>Do not overclaim production accuracy because the data is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SOH thresholds are simple and transparent by design.</a:t>
            </a:r>
          </a:p>
          <a:p xmlns:a="http://schemas.openxmlformats.org/drawingml/2006/main">
            <a:r>
              <a:t>Stress that safety rules override high SOH when measurements are abnormal.</a:t>
            </a:r>
          </a:p>
          <a:p xmlns:a="http://schemas.openxmlformats.org/drawingml/2006/main">
            <a:r>
              <a:t>Suggested animation: reveal thresholds top to bottom, then safety override.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how the Unity scene communicates the AI state visually.</a:t>
            </a:r>
          </a:p>
          <a:p xmlns:a="http://schemas.openxmlformats.org/drawingml/2006/main">
            <a:r>
              <a:t>Be honest: the sensor values are mock readings, but the API call and UI update path are implemented.</a:t>
            </a:r>
          </a:p>
          <a:p xmlns:a="http://schemas.openxmlformats.org/drawingml/2006/main">
            <a:r>
              <a:t>Mention the per-battery UI panels added to support multiple batteries.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robot as the physical output stage of the decision engine.</a:t>
            </a:r>
          </a:p>
          <a:p xmlns:a="http://schemas.openxmlformats.org/drawingml/2006/main">
            <a:r>
              <a:t>Clarify that the robot is simulated in Unity, not a real hardware arm yet.</a:t>
            </a:r>
          </a:p>
          <a:p xmlns:a="http://schemas.openxmlformats.org/drawingml/2006/main">
            <a:r>
              <a:t>Suggested animation: conveyor, decision gate, robot arc, bins.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backend is not just a placeholder; routes exist and were smoke-tested.</a:t>
            </a:r>
          </a:p>
          <a:p xmlns:a="http://schemas.openxmlformats.org/drawingml/2006/main">
            <a:r>
              <a:t>Be clear that train-soh-model is not an API endpoint yet; training is a script.</a:t>
            </a:r>
          </a:p>
          <a:p xmlns:a="http://schemas.openxmlformats.org/drawingml/2006/main">
            <a:r>
              <a:t>Suggested animation: request JSON, arrow, response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concrete proof that the endpoint returns a complete Re-X decision.</a:t>
            </a:r>
          </a:p>
          <a:p xmlns:a="http://schemas.openxmlformats.org/drawingml/2006/main">
            <a:r>
              <a:t>Say this is a smoke-test example, not a physical battery measurement.</a:t>
            </a:r>
          </a:p>
          <a:p xmlns:a="http://schemas.openxmlformats.org/drawingml/2006/main">
            <a:r>
              <a:t>Suggested animation: input, ML prediction, Unity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these are software validation outputs, not industrial validation results.</a:t>
            </a:r>
          </a:p>
          <a:p xmlns:a="http://schemas.openxmlformats.org/drawingml/2006/main">
            <a:r>
              <a:t>The quarantine case demonstrates the safety override logic.</a:t>
            </a:r>
          </a:p>
          <a:p xmlns:a="http://schemas.openxmlformats.org/drawingml/2006/main">
            <a:r>
              <a:t>The video slot is intentionally marked as a placeholder because no video exists in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if an examiner asks what is actually implemented.</a:t>
            </a:r>
          </a:p>
          <a:p xmlns:a="http://schemas.openxmlformats.org/drawingml/2006/main">
            <a:r>
              <a:t>Avoid exaggeration: real hardware and BMS are planned, not implemented.</a:t>
            </a:r>
          </a:p>
          <a:p xmlns:a="http://schemas.openxmlformats.org/drawingml/2006/main">
            <a:r>
              <a:t>Suggested animation: none; keep this slide clear and static.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build examiner trust.</a:t>
            </a:r>
          </a:p>
          <a:p xmlns:a="http://schemas.openxmlformats.org/drawingml/2006/main">
            <a:r>
              <a:t>State limitations clearly before future work.</a:t>
            </a:r>
          </a:p>
          <a:p xmlns:a="http://schemas.openxmlformats.org/drawingml/2006/main">
            <a:r>
              <a:t>Suggested animation: reveal limitations in two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future work as a credible engineering roadmap.</a:t>
            </a:r>
          </a:p>
          <a:p xmlns:a="http://schemas.openxmlformats.org/drawingml/2006/main">
            <a:r>
              <a:t>Tie each item back to a limitation from the previous slide.</a:t>
            </a:r>
          </a:p>
          <a:p xmlns:a="http://schemas.openxmlformats.org/drawingml/2006/main">
            <a:r>
              <a:t>Suggested animation: one roadmap card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project as an integrated proof-of-concept.</a:t>
            </a:r>
          </a:p>
          <a:p xmlns:a="http://schemas.openxmlformats.org/drawingml/2006/main">
            <a:r>
              <a:t>End on the clear contribution: traceable lifecycle decision support.</a:t>
            </a:r>
          </a:p>
          <a:p xmlns:a="http://schemas.openxmlformats.org/drawingml/2006/main">
            <a:r>
              <a:t>Suggested animation: main sentence, then three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and be ready to defend the separation between image classification and SOH prediction.</a:t>
            </a:r>
          </a:p>
          <a:p xmlns:a="http://schemas.openxmlformats.org/drawingml/2006/main">
            <a:r>
              <a:t>If asked about limitations, point back to slides 18 and 19.</a:t>
            </a:r>
          </a:p>
          <a:p xmlns:a="http://schemas.openxmlformats.org/drawingml/2006/main">
            <a:r>
              <a:t>If asked about the next experiment, propose real BMS data integration and CALCE/Oxford expansion.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f032b3125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de4599e40d47cd" /><Relationship Type="http://schemas.openxmlformats.org/officeDocument/2006/relationships/slideLayout" Target="/ppt/slideLayouts/slideLayout1.xml" Id="R0a171fae39c2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171fae39c2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3e4af04014f83" /><Relationship Type="http://schemas.openxmlformats.org/officeDocument/2006/relationships/notesSlide" Target="/ppt/notesSlides/notesSlide1.xml" Id="R160b0d13bbda47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58c4d4b54a90" /><Relationship Type="http://schemas.openxmlformats.org/officeDocument/2006/relationships/notesSlide" Target="/ppt/notesSlides/notesSlide2.xml" Id="R7114fdb1697644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657055e3f4dc3" /><Relationship Type="http://schemas.openxmlformats.org/officeDocument/2006/relationships/notesSlide" Target="/ppt/notesSlides/notesSlide3.xml" Id="R8c1a742570294c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aba0d7d794a95" /><Relationship Type="http://schemas.openxmlformats.org/officeDocument/2006/relationships/image" Target="/ppt/media/image.jpeg" Id="Rce378723c0c340a8" /><Relationship Type="http://schemas.openxmlformats.org/officeDocument/2006/relationships/image" Target="/ppt/media/image2.jpeg" Id="Rb0fae7fb56fd4835" /><Relationship Type="http://schemas.openxmlformats.org/officeDocument/2006/relationships/image" Target="/ppt/media/image3.jpeg" Id="R0b7678d204034781" /><Relationship Type="http://schemas.openxmlformats.org/officeDocument/2006/relationships/image" Target="/ppt/media/image4.jpeg" Id="Rf47ea7dc13704ef8" /><Relationship Type="http://schemas.openxmlformats.org/officeDocument/2006/relationships/image" Target="/ppt/media/image5.jpeg" Id="Rea07d257a3844826" /><Relationship Type="http://schemas.openxmlformats.org/officeDocument/2006/relationships/image" Target="/ppt/media/image6.jpeg" Id="Rfa0b2a286a5e4d32" /><Relationship Type="http://schemas.openxmlformats.org/officeDocument/2006/relationships/notesSlide" Target="/ppt/notesSlides/notesSlide4.xml" Id="Rc5acb80503ec42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2a328f05a46af" /><Relationship Type="http://schemas.openxmlformats.org/officeDocument/2006/relationships/notesSlide" Target="/ppt/notesSlides/notesSlide5.xml" Id="R74980eed1d4d42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4d760f06243de" /><Relationship Type="http://schemas.openxmlformats.org/officeDocument/2006/relationships/notesSlide" Target="/ppt/notesSlides/notesSlide6.xml" Id="R7dab0df3099544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e49b3020248a9" /><Relationship Type="http://schemas.openxmlformats.org/officeDocument/2006/relationships/notesSlide" Target="/ppt/notesSlides/notesSlide7.xml" Id="Rf92c7813a41941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db09426da469b" /><Relationship Type="http://schemas.openxmlformats.org/officeDocument/2006/relationships/image" Target="/ppt/media/image7.jpeg" Id="Re3c125045bde4f27" /><Relationship Type="http://schemas.openxmlformats.org/officeDocument/2006/relationships/notesSlide" Target="/ppt/notesSlides/notesSlide8.xml" Id="Rb06ab10a233346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ce874d184cbe" /><Relationship Type="http://schemas.openxmlformats.org/officeDocument/2006/relationships/notesSlide" Target="/ppt/notesSlides/notesSlide9.xml" Id="Rb7009fa30ec34c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390259aa84a8f" /><Relationship Type="http://schemas.openxmlformats.org/officeDocument/2006/relationships/notesSlide" Target="/ppt/notesSlides/notesSlide10.xml" Id="Re835f3064f3b41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3e640f91c4de6" /><Relationship Type="http://schemas.openxmlformats.org/officeDocument/2006/relationships/chart" Target="/ppt/slides/charts/chart1.xml" Id="R930a70457cd24383" /><Relationship Type="http://schemas.openxmlformats.org/officeDocument/2006/relationships/notesSlide" Target="/ppt/notesSlides/notesSlide11.xml" Id="R2484106845244e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15d99d0854317" /><Relationship Type="http://schemas.openxmlformats.org/officeDocument/2006/relationships/notesSlide" Target="/ppt/notesSlides/notesSlide12.xml" Id="R378db05a4cae4f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576f941aa49f9" /><Relationship Type="http://schemas.openxmlformats.org/officeDocument/2006/relationships/notesSlide" Target="/ppt/notesSlides/notesSlide13.xml" Id="Rdcef2ed4be2d4c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7042978a1419d" /><Relationship Type="http://schemas.openxmlformats.org/officeDocument/2006/relationships/notesSlide" Target="/ppt/notesSlides/notesSlide14.xml" Id="R00c4101a8ad444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58ad5837b4247" /><Relationship Type="http://schemas.openxmlformats.org/officeDocument/2006/relationships/notesSlide" Target="/ppt/notesSlides/notesSlide15.xml" Id="Ra31f05b3454445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0d0fd103246d2" /><Relationship Type="http://schemas.openxmlformats.org/officeDocument/2006/relationships/notesSlide" Target="/ppt/notesSlides/notesSlide16.xml" Id="R5478f34dc5ad4a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fdc240d724df8" /><Relationship Type="http://schemas.openxmlformats.org/officeDocument/2006/relationships/notesSlide" Target="/ppt/notesSlides/notesSlide17.xml" Id="R6576e66eab0542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09d22b39d4972" /><Relationship Type="http://schemas.openxmlformats.org/officeDocument/2006/relationships/notesSlide" Target="/ppt/notesSlides/notesSlide18.xml" Id="Rc7b32971f7ef45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de0370693433c" /><Relationship Type="http://schemas.openxmlformats.org/officeDocument/2006/relationships/notesSlide" Target="/ppt/notesSlides/notesSlide19.xml" Id="R4c131da04ab847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65a6b5e81442f" /><Relationship Type="http://schemas.openxmlformats.org/officeDocument/2006/relationships/notesSlide" Target="/ppt/notesSlides/notesSlide20.xml" Id="R9fb9e3b3ed894e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bee642d164254" /><Relationship Type="http://schemas.openxmlformats.org/officeDocument/2006/relationships/notesSlide" Target="/ppt/notesSlides/notesSlide21.xml" Id="R840c89e651c644d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c42cd900548bc" /><Relationship Type="http://schemas.openxmlformats.org/officeDocument/2006/relationships/notesSlide" Target="/ppt/notesSlides/notesSlide22.xml" Id="R580f712d76384bc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16A34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RF</c:v>
              </c:pt>
              <c:pt idx="1">
                <c:v>SVR</c:v>
              </c:pt>
              <c:pt idx="2">
                <c:v>GBR</c:v>
              </c:pt>
              <c:pt idx="3">
                <c:v>MLP</c:v>
              </c:pt>
              <c:pt idx="4">
                <c:v>LIN</c:v>
              </c:pt>
            </c:strLit>
          </c:cat>
          <c:val>
            <c:numLit>
              <c:formatCode>General</c:formatCode>
              <c:ptCount val="5"/>
              <c:pt idx="0">
                <c:v>0.7761</c:v>
              </c:pt>
              <c:pt idx="1">
                <c:v>0.8919</c:v>
              </c:pt>
              <c:pt idx="2">
                <c:v>0.9097</c:v>
              </c:pt>
              <c:pt idx="3">
                <c:v>1.2145</c:v>
              </c:pt>
              <c:pt idx="4">
                <c:v>1.7185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F4F7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9B7C2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9B7C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E1D27"/>
        </a:solidFill>
      </c:spPr>
    </c:plotArea>
    <c:plotVisOnly val="1"/>
  </c:chart>
  <c:spPr>
    <a:solidFill xmlns:a="http://schemas.openxmlformats.org/drawingml/2006/main">
      <a:srgbClr val="0E1D27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E1253-65B0-4069-AB09-F327D75A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F9EAF-2F7A-4324-ACA9-30A3B423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55B59-A944-4DFC-9E57-CAACA316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0BA1A-894C-4A18-9EE5-3F5CD94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17700-70F9-445B-AB54-0E2E75E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MASTER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095EC-9F71-4124-A457-9134CE21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Battery Re-X Digital Twin and Robotic Sorting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AC544-D09B-4CE8-8436-9E3AD3AA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Computer Vision, SOH Prediction, and Lifecycle Decision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2DAA8-8054-4A68-AFB1-93631BA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Prepared by: Project Owner</a:t>
            </a:r>
          </a:p>
          <a:p xmlns:a="http://schemas.openxmlformats.org/drawingml/2006/main">
            <a:pPr algn="l">
              <a:defRPr sz="127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Date: 18 June 2026</a:t>
            </a:r>
          </a:p>
          <a:p xmlns:a="http://schemas.openxmlformats.org/drawingml/2006/main">
            <a:pPr algn="l">
              <a:defRPr sz="127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Project: Battery Re-X Control Twin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91B93-71C2-420B-88E5-AB2BB4C5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52550"/>
            <a:ext cx="1809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DEE6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BCCED-95B5-43CD-BCE9-2223EAE3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612583"/>
            <a:ext cx="95250" cy="222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06FA4-7C1C-4123-953D-44E8C36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112204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2C7F6-F986-4C40-A40F-FC7131C1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24125"/>
            <a:ext cx="2000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7DEE6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7D1FE-D12D-4CC6-94EF-E30463C3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64155"/>
            <a:ext cx="95250" cy="205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805E5-C472-46E2-828C-F2711CF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00325"/>
            <a:ext cx="124015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E22DD-0E3B-47F5-AED4-A6EC611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1809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7DEE6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E0824-59BC-4794-A335-2916B319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49065"/>
            <a:ext cx="95250" cy="2171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D4B29-7601-4507-9F21-FB902AA2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112204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EE461-C6D5-4635-9DFB-0923F591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>
            <a:normAutofit fontScale="80894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AI 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71B42-60EE-497D-B74C-4D3AA15E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340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80894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SOH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2C470-BF98-4FE4-9045-D0282C4E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340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80894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Re-X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1E632-BA6B-495E-99FA-B5AD04B2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3340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>
            <a:normAutofit fontScale="80894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Unity twin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40425-A58F-4659-8BD1-9B346E34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9F211-07FD-49B7-8A9E-99333196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Project defense deck | public datasets + implemented backend + Unity prototype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74478-7E6F-40D8-ADC0-8ED7DFD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3651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277A35-1F46-4C00-B7EB-05C0D413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489CE-3645-47BB-94BD-AB972731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5E480-5709-4A70-AB93-86D883AF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AA117-8AB1-457E-8300-E8AF7AF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83AD3-F9EB-4729-8207-4027E62B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48EBF-E1D4-4175-A191-47584919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Problem &amp; 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386DD-FFAE-4614-9C3E-F3F0034A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 reuse decisions need more than visual inspection.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01FEE-4669-4FAA-A19A-B78BA9BF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18D4B-2F0A-4834-A951-E74DB24D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Motivation slide: circular economy, safety, and sorting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36E94-9561-4929-B6DF-7222E69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17094-B735-47EC-8D95-C84A2884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86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0DF54-CD10-4BEB-B63F-6113C2D1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C2A0E-26B7-4CD5-9D98-762772E0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Waste 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8EAFF-C37F-4B38-A594-46DFB467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29432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Lithium-ion batteries create growing end-of-life streams. Manual sorting is slow and inconsistent when form factor, condition, and route must be assessed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499FA-E053-4CE7-8C91-26CE50D2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286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A5E7C-2900-4004-A7E7-09CA536C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264C7-E2B7-4438-AAD9-A5E21BA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050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Safety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8421A-C404-4AA7-BCFD-D1C1F1D3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47925"/>
            <a:ext cx="29432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Unknown SOH, high temperature, abnormal voltage, and high resistance can turn a reuse candidate into a quarantine case.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90253-4507-4FAB-9300-4CCD58D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286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59B78-02A4-4FAE-B0EE-7D53675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5D113-FB73-40D4-AE15-F1CBEC1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050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Decision complexity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7154A-ABFB-4C64-B5BD-CB8F4CBA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47925"/>
            <a:ext cx="29432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A visual battery type is not enough. A defensible Re-X route needs health data, risk rules, and traceable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71CCE-56D9-43A1-B75F-7DA8BEB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Engineering challenge: combine image-based identification with sensor-based health prediction and robotic sorting.</a:t>
            </a:r>
          </a:p>
        </p:txBody>
      </p:sp>
    </p:spTree>
    <p:extLst>
      <p:ext uri="{BB962C8B-B14F-4D97-AF65-F5344CB8AC3E}">
        <p14:creationId xmlns:p14="http://schemas.microsoft.com/office/powerpoint/2010/main" val="131580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7E498-6F97-4296-9A5F-0FF2CED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1EC6D-3159-480D-A6B5-67E6EA9A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C2D75-BEC4-43D6-A507-80B1BCA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21189-FC7F-4E77-A9B0-8F32B3C3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B3C3A-4034-40AE-8C7B-4943B813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A367F-D13A-4933-A1D1-151B6E42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Project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8CD96-5EF9-4CFF-BF2C-FFDB180A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 enters the digital twin, is classified, health-scored, routed, and sorted.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56861-D38A-4601-98D8-D8683C96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A9765-C0F0-4FF1-AC34-99D3E08B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Concept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D1278-41EA-4594-9839-81A3A770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1F292-B558-4648-8F08-13842968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40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A9B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35697-46CE-421F-887A-67B020D7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23DF4-6F2D-428D-8847-F8011B8A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526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5823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Battery intake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0C5C9-ADD4-47F6-BC30-B625EAE8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72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Unknown cell on conveyor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0F3C7-9F84-41E1-B0C7-48E31FEC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140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DB1C7-12A5-4EBB-B127-26C70BD4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71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51865-611D-459B-9531-4F720DFA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526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6743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AI detection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0D210-4CD1-4BA2-B732-D99B2F45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47950"/>
            <a:ext cx="72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Cylindrical / pouch / prismatic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3CBFA-363F-4C7D-A849-5B52C111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140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B40A3-6776-44D8-86AD-A5FB8E71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71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E4570-A86B-4FEA-848E-B0964E87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526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5347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SOH prediction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D5CA3-83F5-4488-866B-24762AB2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72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ML from health parameters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264F8-9647-4E33-B76D-533643E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140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F9C03-F1B3-4435-8417-25B2771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71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RX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DF616-D336-4EF6-94DA-BEB91470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526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58273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Re-X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E0EC0-8F1D-4013-BAE3-6AF6BEDD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72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Reuse / reman / recycle / quarantine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F2267-7D25-4EB8-A25E-57061DB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140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B4A4B-61C1-496C-A5AD-3C78A9D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71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3D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D9D55-CFA3-483D-BC89-66D43775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1591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Unity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02351-2748-4410-B27D-E7746F4F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72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State, color, UI panel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69CD5-C4DE-457C-814D-968D5DB7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38375"/>
            <a:ext cx="140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CA47E1-DBFF-42B8-9903-9B9B759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71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56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B5CF6"/>
                </a:solidFill>
                <a:latin typeface="Aptos"/>
                <a:ea typeface="Aptos"/>
                <a:cs typeface="Aptos"/>
              </a:rPr>
              <a:t>BOT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9CE8E-4B42-4350-BFB8-A2D8D03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3526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6497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Robot sort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B86F96-0060-4FD5-9705-F8F2516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647950"/>
            <a:ext cx="72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Move to target bin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5F4BCB-2A7B-4155-8B2E-85015D42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146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D7BCE7-417A-46C2-8DC5-2CECED51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A865FA-F7BE-4C5E-99EA-FC73A24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146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CF2CF-7F0E-4E71-9727-D3C8AD3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50D44-D0AB-42C8-B917-18810732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146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E1808E-8A2F-4C60-91F2-5136CF3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815CE7-2443-4698-BD21-5A21405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6835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Image determines physical type. Health parameters determine SOH. Safety rules override unsafe cases.</a:t>
            </a:r>
          </a:p>
        </p:txBody>
      </p:sp>
    </p:spTree>
    <p:extLst>
      <p:ext uri="{BB962C8B-B14F-4D97-AF65-F5344CB8AC3E}">
        <p14:creationId xmlns:p14="http://schemas.microsoft.com/office/powerpoint/2010/main" val="1852546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F8C2F-8F1F-44B8-824B-6776ECD1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D59EA-68B9-45D8-B16E-380A7879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81B6C-1FB5-496C-88E0-13C2B1E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09DF9-E091-4CF8-8041-221A0840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B7244-0A18-426D-A974-54259664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DATASET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3F542-D8B0-434B-89A3-743B0FBA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RecyBat24 Image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F1091-216F-48EA-8049-85C75AB5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Real battery images are used for visual shape classification.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E465E-7490-4FC9-A4B8-E504DE11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3AF80-4B42-46FE-9F96-61CE872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RecyBat24 subset in data/images; project evaluation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53BDA-7322-42DD-A4F5-41AB3781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78723c0c340a8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1714500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ae7fb56fd4835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1809750"/>
            <a:ext cx="1714500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678d204034781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809750"/>
            <a:ext cx="1714500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ea7dc13704ef8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352800"/>
            <a:ext cx="1714500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7d257a3844826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3352800"/>
            <a:ext cx="1714500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b2a286a5e4d32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3352800"/>
            <a:ext cx="1714500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EDF6C-6422-4DD8-991B-12867C45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95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0B698-7343-4126-B0C0-8F51122F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0F9DA-9B9A-486C-AD77-75EEBA33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Runtime subset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25D22-31F4-4198-AD06-FC57494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90 images total: 30 cylindrical, 30 pouch, 30 prismatic.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98346-47E7-4CFC-9858-531155A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Public 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93F99-1729-4C59-80FC-233934A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95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CD21E-351A-40BC-8586-43F23CC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76962-99F9-4B0D-9F95-E130EBC8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Use in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88E39-1355-4F49-9A48-508C45A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Training/evaluation labels come from folders. Runtime prediction uses image pixels, not filenames.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FB165-8A23-4FDE-A1BE-C0A7DD10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766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FBDAD-2F4D-4183-8411-009BCAB6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095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260A4-5E1A-46B0-8351-1569A1C4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6AC04-F025-4FFE-A430-A862B216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29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Selected CV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52262-1E30-4578-83D1-C120F6D3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72050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HOG features + Linear SVM. 5-fold CV accuracy: 98.89%; holdout accuracy: 96.30%.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BA785-6840-49CA-AE99-E5A6856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10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Evaluated</a:t>
            </a:r>
          </a:p>
        </p:txBody>
      </p:sp>
    </p:spTree>
    <p:extLst>
      <p:ext uri="{BB962C8B-B14F-4D97-AF65-F5344CB8AC3E}">
        <p14:creationId xmlns:p14="http://schemas.microsoft.com/office/powerpoint/2010/main" val="243962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3DCA5F-6C11-4D0C-9B3B-0C66BF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E552E-8DD5-41EE-B4F5-04E31E2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3B95D-F051-4C51-AF21-A4D9BBB7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14369-D91B-4CA3-B974-69834E3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B7985-FA07-44C2-AF89-974A0747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DATASET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EF4F4-8CFC-4A75-819D-41BF25B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Battery Aging Data for SOH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5C2A6-8017-46A8-A65A-9306530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Capacity-based SOH training uses NASA-derived battery aging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3173E-D87C-4C10-9DC0-427ACD8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19FE7-E9A8-4A20-B51D-531695AA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NASA PCoE Battery Data Set; data/nasa_health/battery_health_lookup.csv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0FEEC-22AA-49FC-B062-3C15D8AB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94457-40B9-409F-91F7-DE1C18A3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38F08-749E-445A-B685-9D983F09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A065D-5CE5-43F6-8476-C2284618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Selected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5DD2F-A101-4AA2-BE97-59523F91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32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NASA PCoE Li-ion aging subset extracted from raw .mat 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AD147-EBD4-4C01-BB0A-C913ACE7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Public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AF268-EFDB-4977-83B0-1122768E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F0CA1-3941-40E4-A20F-B033936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9D25E-227C-4AB9-AED8-C9A069F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62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Rows used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05E35-A7F0-4C5F-B9C0-AC1912C6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05050"/>
            <a:ext cx="232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636 clean discharge-cycle rows from B0005, B0006, B0007, B0018.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80DED-03A1-4E0B-85FD-56BF0D2F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60CEC-3A59-42F4-A59B-231080F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39E31-4822-499F-BC0A-6B8586A4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CB3CD-26BA-47B1-B13F-C857B01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808D5-2B84-4765-AAAD-78D5A6A0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32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SOH is calculated from measured capacity divided by rated capacity.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89174-6729-4120-A54F-37DF0DC9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Capacity based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B4AA6-F61C-4485-9933-7A13134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1962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055C0-3579-495E-A421-0792A18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432A3-F15F-480D-A7B3-6B894B8D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621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0A879-99A3-47AA-94D2-6D7B79E9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161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Current calibration is cylindrical-heavy.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BE1EC-A77D-4F70-89A3-9511D45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>
              <a:alpha val="13333"/>
            </a:srgbClr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Honest scope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367B6-743B-4F49-BB04-7126F93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4B8658-2F16-4D93-8295-D9F8F2D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082E0-7C5C-4F54-BDF7-8F6CA3EE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878E5C-EB90-4D1E-BE89-83A136D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385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F81FE2-35A0-4BD9-AD0C-136B0DE6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90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F7A08-B985-4AF8-9DE1-7788B12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385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Used by ML?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B841C1-6E38-4299-839D-153AABC9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064CF7-E719-48EA-B50D-57FF1E78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385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FFF464-F670-487F-B314-2141515A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D1943F-BCE2-43AF-A14D-057417E8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cycle_count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5915A2-2F85-4ED8-A5F3-D3EA6AE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52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10C381-4795-40A8-9C26-27C641AC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005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aging progression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212065-3223-447F-AE76-0D01CABA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52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3BCB03-A3ED-4E5D-B595-F068DF7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005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82D5D4-D568-4F84-B174-DF8B7AC7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CCDD52-77A5-4340-A962-4C2E4C8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005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NASA discharge cycles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72D3D6-306F-488B-9758-5091843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AF2F02-78BF-4091-A1EF-FB96AAA7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624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temperature_c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9337E8-87B5-4937-AA24-5CBEF9C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14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DB40F-FFA9-459F-A698-D13D33B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thermal condition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15ACB8-DF5A-4A7D-8CE1-13AD1AB1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14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E55F54-1B4D-4AB2-BF6F-AD8347D1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624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657240-BF99-42FB-9730-D3863C3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C4B317-7060-403B-A61D-386BF42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624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measured discharge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8D4B35-BEA5-4C0E-A6B6-F75DF22C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06D729-FFEF-44EF-9BBB-29A17D8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244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internal_resistance_mohm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91990E-B858-41A7-B134-954D827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76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4358C1-05B4-4495-9E59-8CDAF1B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44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electrical degradation proxy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E5BCC0-FF5E-4070-BC8E-DCB73057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76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5D1DF1-F09E-480A-9C38-7D33415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244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F899B1-68B0-4C79-8763-FCFBF068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768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C786A3-327B-403D-BB3C-E0474B2D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244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nearest impedance cycle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A8E37B-FDAF-4E56-8336-1C63C77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6EE7B4-26FF-453B-8EF2-8BE4F780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863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voltage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262F9C-4D1A-475C-8D05-84290320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38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A64BAB-0AA0-458D-A0CD-A57C9E96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63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operating condition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3A6C64-1025-42ED-B488-716E709C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38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F55C09-8E7D-4C80-A926-DCF308B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863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7C314B-1A49-4058-8735-6105DFEA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387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1BE134-C6C0-4797-8415-6EB3652C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863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measured discharge data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708ECE-5614-44AD-9374-21ECC0CE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62C7CE-439F-4E03-B893-7D7AB26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A7A2929-87C3-4019-AAA8-0D1ABBDA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00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91D36B-6FFA-488A-A783-0C0C198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483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SOH label generation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324FC5-B2AF-4B34-B54F-3643819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00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DDE5B1B-3F84-44D5-BA16-82ECC989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483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target only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B22D48-013E-4658-9A28-F852A3E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007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430F351-024A-4C79-A919-74D9A58E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483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measured capacity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5E70A86-F73A-49CB-AEB9-132B707D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525000" cy="2171700"/>
          </a:xfrm>
          <a:prstGeom xmlns:a="http://schemas.openxmlformats.org/drawingml/2006/main" prst="roundRect">
            <a:avLst>
              <a:gd name="adj" fmla="val 350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4404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9894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1800F-DBCA-428F-A556-D6A5E92B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DF322-2CD0-481C-B9B8-0DC5B9AE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47F78-4F11-4142-9E73-65AC9826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327A7-D134-449F-8AD4-C6621184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F5B15-F2F7-4A1D-BD1C-085D91B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DATA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B2542-37DB-4531-AF55-4F972049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Why Image Alone Is Not Enough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47113-A7CB-4A34-919A-F279D279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 image classifies form factor; health measurements estimate SOH.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8DC62-04B0-4E53-BEFD-588EA91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66C00-0792-40CC-BD73-52E524C6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Design rationale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6314A-DCB7-4BF8-B60A-8661764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4AD2B-599F-4EF2-AA96-65B9776D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EE727-001D-471C-BE30-974F8E83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IMG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94781-06DC-42C4-8E97-7656965D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47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Image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7DBDA-5D91-43E2-82CC-558721E9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432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Shape, visible form factor, visual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52E4F-8D48-4326-8D46-B7D383AB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24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C21E9-B764-432A-BAC9-7AF62BBF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657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714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28CEF-96DB-4C99-A6C7-5DBAF22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638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Battery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CE3A8-99B0-451B-AC2B-7668CB01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3357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cylindrical / pouch / prismatic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47470-BDDB-4F03-BDE8-AA99CEE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73F48-41A9-4E17-8A47-D83EE0C0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883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322A5-E0DC-4B16-9972-93915F29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10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Health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CFF80-D9A7-45B1-8A3F-8572116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053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cycle, temp, resistance, voltage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3ECD9-D158-4B61-9DF8-DDD75E95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A2378-AAF4-4ADF-8D60-07A69D16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229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226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SOH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CC788-5899-40EC-8E51-1F347747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10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Predicted SOH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61A22-2DA5-4F90-853B-F478FF4A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5053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ML regression output in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17C32-50E5-4C1C-89E7-AF23C6F3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19400"/>
            <a:ext cx="257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0C6B4-2DCF-4100-9450-CC92CB2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RX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C84E2-4B19-440A-A1C6-04EF5DEF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Re-X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F7F69-9429-441D-BE77-6858BA83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1885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SOH + safety rules + type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8D29E-8C9D-4E3B-8607-FB0EFD07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723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9DC223-0FD5-4026-A5FE-91CD613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81350"/>
            <a:ext cx="723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6123C-8535-4A43-86A2-41B7325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43425"/>
            <a:ext cx="723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5942D4-71DD-4F48-AC5E-B1CB7418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0"/>
            <a:ext cx="723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F504B7-FDF9-410C-9FA3-A88C262F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15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A camera can see geometry. It cannot measure electrochemical aging.</a:t>
            </a:r>
          </a:p>
        </p:txBody>
      </p:sp>
    </p:spTree>
    <p:extLst>
      <p:ext uri="{BB962C8B-B14F-4D97-AF65-F5344CB8AC3E}">
        <p14:creationId xmlns:p14="http://schemas.microsoft.com/office/powerpoint/2010/main" val="48099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1B10C-7EB8-4CC7-9334-F49A8FAD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C05FF-861E-46B8-8720-8018C4C3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F7261-5BB3-4E1A-BCA3-FA5EB276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B2195-17E3-4244-AE37-587C693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E13C8-BAF7-4F9E-B8E1-29E057A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E0BE7-8203-4033-94EB-7A683159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System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17BD5-0616-4182-8049-154ADE7F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Unity, backend AI, passport data, ML SOH, decision rules, and robot sorting.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2AECB-1C82-4BC0-A123-56549286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0842C-24A6-48CC-9237-D6F767BC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Project architecture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185D5-E445-4AD2-A59F-90D09C2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E9DD8-D5D3-4721-AA28-3DDEC2C8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96319-B2D0-4CDF-B224-2225CB2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3D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9FECD-7633-4FA0-BB67-F0AEE984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24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Unity Simulation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D609B-0873-4F55-B67F-41416824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1932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conveyor, camera, robot,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70230-E27C-43C1-BDE8-E41E5527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5D905-2108-430D-B239-4E915DA3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43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5738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1D829-C2B8-47CF-9E0F-CDFA0D56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Camera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A79C6-5DF5-4B8B-A69A-FEB1B02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1932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uploaded battery photo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61071-F376-4C7D-A9D8-6179D64C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D0FA7-726C-4988-99FB-37EED8F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BB58F-701C-4784-9338-576A7224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AI Vision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91351-2473-4DEA-9091-53A44E0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1932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HOG + Linear SVM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54073-4659-4038-A6C8-831211E9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05932-A798-4850-A8A3-45F05FD7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43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B5CF6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B3E8D-7C97-412A-9832-88D82F3E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24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Battery Passport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0B5CD-D7E2-4E03-B5E0-DBA62484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1932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id + metadata + 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79CCA-F21F-4E7D-8D64-368EFFF2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51371-A0E1-4306-8279-924BA367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SIM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4D5206-E083-4581-9D91-FCA1BCC9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Sensor Stage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D687FA-873C-473D-94FA-D83940FB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9577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mock health readings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881DE-A5F7-406E-8454-673B985F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F75229-FA94-49B7-BD4C-BB75A0CD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19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223979-7519-4B5C-8622-8EC99C8B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SOH ML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D0382D-B4C3-481B-B1F5-368FE82C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9577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RandomForestRegressor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2E629A-1602-4391-8B3C-A87AAF0A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C08694-68B3-463F-B068-876AF068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RX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C83C86-5F67-4601-8A4E-F90535B0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Re-X Engine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FEFB85-EBA6-4167-90FE-9765CE7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9577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threshold + safety rules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B738AE-4DB5-4181-90C2-F5491DE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10CA51-F533-4982-A0CC-ED81BF06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9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4978E5-5C5A-480D-917D-D33DADE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Robot Sort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A363CA-EE14-4DC3-B8CA-61E7A045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95775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target bin command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7B3665-106E-472C-AA37-6BF32C2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00FDE0-927F-4497-A7AC-294B6EB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170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B49D2D-6ABA-498D-B70C-E474B92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AB3759-0372-42D2-9E84-367047D8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1D5DC7-A550-41C9-A98D-91A81264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481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889837-09FD-4978-BD28-664597CB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35CA5B-DD25-4F94-82E3-949BCD15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191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C701B3-0587-47A1-8C58-85BEE3BF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28950"/>
            <a:ext cx="4191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776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37D0F7-5A9A-4655-8B6B-185F876B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66A9-9A93-4274-AD3A-82309558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7FEEC-BB03-4776-84EF-F7AB5E1C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2421A-6E18-45DB-B637-ABE12260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EB95B-1228-4870-B734-219E1BD9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COMPUTER 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3EE19-261B-438C-B5D8-6A97ADDA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AI Vision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C3C61-2D9E-4CCD-8354-682EC641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Runtime classification uses image pixels, not file names.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7ED6C-0347-4B8B-B93C-477FA999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ED37C-5335-47C0-9A5E-D3F5E7EA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scripts/train_compare_cv_models.py; backend/model.py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79B64-0084-4D9D-BB02-FB3B55A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125045bde4f27"/>
          <a:srcRect xmlns:a="http://schemas.openxmlformats.org/drawingml/2006/main" l="0" t="11765" r="0" b="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00250"/>
            <a:ext cx="1619250" cy="12382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7E0DB-4C99-4E27-89C8-75B7C7A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14550"/>
            <a:ext cx="1409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20978-93FD-44F7-893E-70891FE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47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71428-1194-404D-A1B9-61171286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6876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Input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46977-3654-4F1B-A766-FED1CA3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24125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432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Unity camera sends selected battery image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1F646-F951-44CF-99FE-8B0C586F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1409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FAB73-6B3A-4D58-B21F-5F8F22A5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14462-0DC9-4CAC-ABC7-F5298E0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5636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B4CB2-21B4-41C6-8281-7272A35F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24125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resize + grayscale / feature extraction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99928-51A3-410C-8B2D-51B1DCBB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1409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44FCD-6B38-455F-880F-824A3765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B5CF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BCF4A-CDF0-4EAB-87D6-B2BBD147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600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HOG 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22AFE-0939-41F7-BA12-D2F69E0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24125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shape gradients and edge directions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F8FFE-837D-4D28-96EB-169ED032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1409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62645-B29F-484E-ABDC-F1BFF2B5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4C90B-A8BF-4026-B7E1-3510DBD2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291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Linear SVM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F28661-9D47-43F9-9CA9-9246629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best evaluated classifier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C9FE8-41C0-4FF6-8F6F-FE3E00D5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409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DD218-5170-4C80-88CB-D532780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47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79DC2-0BDC-450D-B2B7-230CB2B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69403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Type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E8668-5E7A-4038-8403-1D411CFB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24125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cylindrical / pouch / prismatic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23ED8B-F810-4C9A-B597-5B396A9C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1FB8A-CD11-4F2E-A053-0D977E1D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33650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69290-C618-4BB5-9208-4C748549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D9A9C6-FF60-4FEA-81EA-373DA267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33650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A05922-E9D7-44C7-8437-A47EA84E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512409-A4C2-48DA-B8FB-61BE8B1F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95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BF918E-289E-4612-8069-4BC17102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56F558-9E77-41FD-986B-B2B618EA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95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Feature set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C6AF84-015E-46E6-816C-6562307A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6A2C79-A07A-4A54-90B8-18FB75C0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95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5-fold acc.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68D5B2-5D7C-4DBA-8472-51F74F15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45534F-DC80-4D6A-9687-51FF71A4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95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Holdout acc.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D7DC4D-A1A6-44F8-992B-00C3E66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719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AC5139-F23A-42C2-B41F-3A076F4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195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4DD5A4-E500-40E1-9564-F16EB7EE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46D343-FBFD-49C7-9A16-0A3AD782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8152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Linear SVM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1F0B64-6C68-4EB1-A1F0-042BAE17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339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AFFBEA-3DAD-4AC5-B4A6-196FA590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815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HOG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2188CC-BEEC-4C22-8041-6703FAE3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CC5CB1-770E-4D60-A7E8-7FA8CB3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815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98.89%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0FF336-6CC6-4403-8F27-5D215E0E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BFD986-6011-4754-ACD8-172B91A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96.30%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82B2DC-632C-4CE1-94D8-4E876AB4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339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F546BC-15DD-4D28-A380-15E802A9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815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selected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7A593B-388A-40A8-9CC5-07EE457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98E204-50AB-4DD4-9FDF-57ED6908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434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C0177A-4927-4984-8CC0-8936897D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958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FDE8D6-2545-4B94-9837-567E143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434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color + shape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855545-0AE4-4FD6-9B81-83CFE319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4068F3-FFC7-49F7-A46C-44232CC7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434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96.67%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D04D59-A397-412D-8326-76883E8A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95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B4F35D-8A86-4A4D-B0CE-64211691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434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96.30%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8DF7EF-7C5F-450C-BDF0-CCBA739C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958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5DE65C-8DE7-426D-B1A7-0A23FE12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434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304E6B-134B-4E0A-A32B-71705121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CB8342-D8A4-4766-AA80-37550684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0542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RBF SVM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AD75EC-3257-4BE6-9D37-CE4FD6B5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578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E3DDE7-F7CA-40EA-A748-0BA27ED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05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hybrid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CCD4BA-0E36-4E00-B789-3BABE193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D52C42-B73F-4681-8F4B-0CAE9BB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05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95.56%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FC1F19-0F25-4246-B1EA-62105782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2B5491C-3B20-43F1-9A06-467B97B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05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96.30%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AF8D27-AAAE-4418-B0E2-ECC69BDB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AA96AC-4930-41AB-8B0B-987F579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05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compared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2875B1-721B-4C82-BBF4-414DEDA1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F0CED7-87B8-4FC9-95B4-6C4DC32B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673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1185328-650B-4AF0-BA8E-670DF658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197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D7DF561-60B6-471D-9CC7-6D88795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6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color + shape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677E0C-7B0A-4EEF-A6BE-937AEFC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9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35FF057-D76F-4DB3-A5B4-FBE0CED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67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92.22%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6A0DFC-5BDC-4E25-9255-31EB4AC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83CE05-F9DA-4099-96CD-3B42CD53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67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85.19%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BEFFA6-E558-481B-9E88-81A59DEE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197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A24F16-60D8-45CB-995D-0D56D774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6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A934034-DD92-429B-940C-D2550751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1028700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4404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6095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CA22E-8BA8-45E8-B056-16B252F2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7D7B5-691E-44CC-AA25-46CF55F0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1C88E-032B-43A4-A293-B5A953B2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A4EBE-46C0-4E62-8D72-9B57C0ED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AF12D-14AF-4518-AF06-FA178D2E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DIGITAL PASSPORT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A9478-88CB-4C20-B424-7D160C7B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Digital Battery Passport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DB7A5-11D5-4BAF-9713-6810D7ED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A structured record keeps identity, sensor values, prediction, and decision traceable.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EC4CD-6B56-4A4B-9F21-28EE1E4E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C63F1-DE28-4996-86A1-2251B280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backend/passport.py; logger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1DABD-B34E-42C5-82E3-BE97A65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4299B-8F38-4175-A001-2732B68A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38300"/>
            <a:ext cx="4333875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E1C26"/>
          </a:solidFill>
          <a:ln xmlns:a="http://schemas.openxmlformats.org/drawingml/2006/main" w="11430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52DC6-63BD-4606-A27E-D9AD63FA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BATTERY PASSPORT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B03A9-F33B-47D5-9E85-5A87B42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1C389-5647-4FC7-916A-FC71AE98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57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DXB-REAL-BAT-001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B3687-59F4-475F-A293-98932C7B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0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D0F3B-210A-4EAB-99F8-A8D839D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00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cylindrical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16F53-1FF0-43AB-8A3D-2581B0DE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cycle_count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05778-6378-431C-A98C-2F8B044D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43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430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CE438-04BE-4EB0-9D44-816D1286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86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4B437-309B-47A3-B273-A973BBFE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86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31.2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80BE3-0B4D-4FF4-A425-F9411BA9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29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voltage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C8321-8AC4-4392-9BB3-07082880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29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3.72 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126B3-6021-4749-A44E-A6D5F62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71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resistance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349BD-C507-475D-B1FF-CD42FD65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52.0 mOhm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DC989-AB2F-4C8E-B8ED-8828850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predicted_soh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4F845-D4B6-4F9B-A245-52D78D0E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94.49%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3B6A5-D3FE-4A87-9297-5099D67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881E4-F430-44A5-A439-37673380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57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API response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95F08A-7C29-441F-8B8E-5342A9D9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000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4060B-09A0-41DF-B2E3-72A014BC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4E8D2-B097-41DB-A213-B02E6FC8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05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A5C71E-A522-4BED-995F-6926EDD9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4792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Passport-style records make each Re-X decision auditable and explainable.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B3F6F-4E5D-46F5-B43B-D3B68251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000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ED680-CB58-4DF0-B019-1BDD2BB0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D0A1EF-3C2C-415D-AABB-E18A3155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385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Current prototype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25912-9797-4E49-865E-DC0041A4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8142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997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Identity and inspection history are implemented; some fields are simulated because no real BMS is connected.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3E6000-BAC0-4FDB-8A69-30DBB67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19475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Mock/simulated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F6F83D-B139-48F7-9190-0BA8E6AA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400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6DFE6D-7013-4E10-896E-0F183E4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164CA1-A66A-4CC9-B16B-61C1828E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72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Industrial extension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E02B09-DBC3-462E-BCEC-D822E88C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14925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561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Replace mock readings with BMS, lab tester, or line-sensor data.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23B8A6-4374-4C73-8ACF-30204CDA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52975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598458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D628F-E811-4363-8C2C-691BD7ED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5638A-9F43-4E19-935B-024D607A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58AAD-5253-40DF-9A00-BBC904BB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D1041-1D11-444F-BA48-3DB7FA43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84A22-70E8-4B73-9286-96DF9B3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SOH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DD25F-C1CD-4BBB-8B62-C15B2B3F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SOH Prediction 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56DDE-D44E-4A87-AB2A-B0ED338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Training uses capacity-derived SOH; inference uses health parameters.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E5FB0-BD40-4D4D-B536-A52026C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B87BF-246B-4E74-84C2-1BBADDD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docs/soh_ml_pipeline.md; scripts/train_soh_models.py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9B282-F30F-4FD7-ACEE-91C16D99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E7119-13F8-412E-B706-1A6CEB5F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SOH (%) = current capacity / rated capacity ×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85660-E0DE-402E-8C82-E07F52F5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857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C928A-C682-48B8-9EA1-3821CE9D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32F9B-E4B6-482C-BBD5-01D94F0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Training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86558-2F7B-4873-8131-245D347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NASA rows include measured capacity. I calculate SOH directly from capacity for supervised learning.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A715C-D8FC-4201-B8A9-3E0D51F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86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7EC4C-1E2A-4852-873B-B803904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E455D-4A46-43F5-96A0-17266977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BD230-0036-4AA4-8703-F1161A39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Inference inputs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90AA6-8389-4C65-9AE9-816EF6D6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480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At runtime Unity sends cycle count, temperature, resistance, voltage, and battery type.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F67D3-C7FE-432C-BE08-87553F9C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86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8E4C3-415E-4F48-9D91-22103BC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2857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61C4D-0418-4D67-807A-1675F545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6536C-D654-4114-935D-F97F624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Prediction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BF12D-CA27-4E56-84BE-16D5694E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Backend returns predicted SOH percentage, confidence estimate, risk score, and Re-X route.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5F55B-9931-4F17-8F75-D8DBAE64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86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82500-6F98-4C3D-8E47-1B35860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Important: the model does not predict SOH from image pixels.</a:t>
            </a:r>
          </a:p>
        </p:txBody>
      </p:sp>
    </p:spTree>
    <p:extLst>
      <p:ext uri="{BB962C8B-B14F-4D97-AF65-F5344CB8AC3E}">
        <p14:creationId xmlns:p14="http://schemas.microsoft.com/office/powerpoint/2010/main" val="1292635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961062-178B-41A5-8D04-CFBB743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7025-FFC7-498A-A028-2668245E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471D5-752D-4CF0-801C-2E7DC116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3EDF9-DDC1-4FBD-9442-513B0CA5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535C3-1A71-4A2C-92D7-5EB2E8B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MODEL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82688-4BEF-47DF-909A-3697F68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ML Model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DA00F-BE2C-4173-8124-2A49BC0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Five regressors were trained and compared on NASA-derived SOH 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231AF-51F1-445E-AE8E-5B19DEA4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D1158-0FC9-44DD-ADEF-B50F3D1F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Source: outputs/model_evaluation/soh_model_comparison.json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21043-DE9F-4F5E-9FB1-938F0513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FDF4E-4813-4B1A-9670-7DFE2014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6D42F-E2ED-4647-9E38-3E9F197E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5E36B-4BB8-43E9-85B9-67534ABA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8AE7D-F8ED-416B-BB70-3B72D3FF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954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E0B26-6F09-41C6-B126-90F3742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478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15A4C-627C-40B3-9694-1E17869D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954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117E2-D4A7-4EE4-898A-7270F5DC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478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64ACB-4B1A-40B4-9E16-A319AA0C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954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09107-4DFA-49D0-8584-D43E53E2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478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4B637-D15A-4DCD-93C8-0EFAB073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95475"/>
            <a:ext cx="107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MAPE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5B560-5C6A-4347-8DEF-2AD0E86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478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320B9-DCF4-4A57-9664-04A219E0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9547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D9838-5623-4115-805C-FAC0723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48CE3-BC6E-4EBB-8874-4C4B3222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RandomForestRegressor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F4F06-3155-426E-B299-EDF3C38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479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7CDFA-9C08-47E1-B333-919612C4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0.5348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03D2B-65DF-4479-A16E-48D6EC3A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479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BA5BEC-B829-4467-B62D-2829A9D0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955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0.7761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9EA49-47E9-43D7-8BB2-7A380996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479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6111D-138B-427A-AD76-06DAB824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955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0.9946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F78C1D-9227-4B40-BFF6-FA828A29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479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7180F9-F1A8-4D0A-850B-2738D4E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95525"/>
            <a:ext cx="107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0.6617%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1E554-4A12-4DA6-B931-7BFC3A3E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59547-0B2D-4564-BC71-8BB27CAB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955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selected; lowest RMSE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99324A-91F9-4601-AD28-460CA671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B92CEA-42AA-432D-A8BF-EEEFA2C9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SupportVectorRegression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5832CD-815E-47C4-8BF1-7B68AB1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9E93E4-76E4-495E-B469-DB430950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955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0.6487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20011-10B3-4B2C-AEF7-9474C059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479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2B00D8-3917-47DD-8936-973E931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955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0.8919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BC1112-B208-4EFE-97F2-1208E5FE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42CEBF-EBF1-47FF-A8D9-CE8BEC1D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955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0.9929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1466B7-AD5D-4595-A90B-EB52E02F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479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775AE4-FCD5-4A02-8EAC-FC508AEE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95575"/>
            <a:ext cx="107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0.8095%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279570-A60E-4DB3-94B7-1C0B862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AE2DA4-BA09-40E5-8642-4F8200CC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9557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strong small-data model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242126-7FCF-47CD-A57B-3F75D824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9ADC9A-00F9-4E98-921D-3A2DD12B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GradientBoostingRegressor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377D05-90EB-4F03-9B5B-37927A42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480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1E2861-09C0-4638-8578-2BD1CB5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956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0.6524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A5105D-6068-498C-B3AE-7B7A73D1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480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51EEAE-7B1F-4859-87BD-41000A13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956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0.9097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0649B1-5A03-4230-B63A-A5D2E6C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D31BD5-1CE0-4CBE-88B3-51B9203C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956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0.9926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9D3841-D1C5-41DF-9139-69757CF3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480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1EDCA1-7E73-4EB9-9BB5-BFF79939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95625"/>
            <a:ext cx="107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0.8131%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B3C3CD-0CDB-4417-B531-219ABE8D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A7030D-4E3B-4122-B79D-8353684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boosted tree comparison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A8B8F9-16A7-4749-BF98-D34E05E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804A82-9B58-40EE-9683-906103E8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MLPRegressor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1B9C8A-DABB-4B20-9189-64BDF8A7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480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CC9FB4-2228-4D3D-B7FD-3E440598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956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0.8880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3C8402-15EA-42A4-83CA-BFECC11C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480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A8CD9D-C0E2-4A09-8710-D9A4A48A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956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1.2145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19EBB3-64EC-4DDF-9BDE-5A5D641F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480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3A1430-3E97-49A8-80B2-A54BAC93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9567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0.9869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2A796B-1DF4-40E0-AAD8-F4226FC0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480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802ED7-B3A9-4F89-942B-9B853EF8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95675"/>
            <a:ext cx="107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1.0899%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6B1DCC4-F511-452C-A672-F84C23CC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480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16B8BA-1202-4FF0-B6EE-271961E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9567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simple neural network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C01299-333C-4644-8748-7164B1C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34C8A9-D6EC-47AD-9ABA-A2F41FF1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LinearRegression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D2D547-E83C-4A7B-93CB-01C84A70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481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11F8EC-5A2A-4CA3-AC0D-9AE81B4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957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1.3367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BA2237-E180-4E65-AE53-366EEB58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481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60BFEE-805E-45FB-93B7-EC32DCE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957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1.7185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A796C60-C3BE-4F7F-AA81-99A16EB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481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86E3444-7228-45B3-9C41-88CBEB9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95725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0.9737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D799FB-86FE-41DA-95C7-36EE0C6B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481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C565C2-D960-4A80-8F8F-A2E97AE7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95725"/>
            <a:ext cx="107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1.6764%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20D278-B2BB-4919-AC82-F062D315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481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6F4F5AE-9560-4A94-A915-B289665F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957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7B81B33-8FD5-4830-9B29-141FD3B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9772650" cy="2400300"/>
          </a:xfrm>
          <a:prstGeom xmlns:a="http://schemas.openxmlformats.org/drawingml/2006/main" prst="roundRect">
            <a:avLst>
              <a:gd name="adj" fmla="val 317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4404E"/>
            </a:solidFill>
            <a:prstDash val="solid"/>
          </a:ln>
        </p:spPr>
      </p:sp>
      <p:graphicFrame>
        <p:nvGraphicFramePr>
          <p:cNvPr id="170" name="Chart"/>
          <p:cNvGraphicFramePr/>
          <p:nvPr/>
        </p:nvGraphicFramePr>
        <p:xfrm>
          <a:off xmlns:a="http://schemas.openxmlformats.org/drawingml/2006/main" x="6905625" y="4476750"/>
          <a:ext xmlns:a="http://schemas.openxmlformats.org/drawingml/2006/main" cx="40005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0a70457cd24383"/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53232B5-A3F3-4BEA-BDA3-10D8F530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390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69677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2C7CC17-DBE2-416D-85E6-6DF64BBE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0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619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Selected automatically by lowest RMSE, then MAE.</a:t>
            </a:r>
          </a:p>
        </p:txBody>
      </p:sp>
    </p:spTree>
    <p:extLst>
      <p:ext uri="{BB962C8B-B14F-4D97-AF65-F5344CB8AC3E}">
        <p14:creationId xmlns:p14="http://schemas.microsoft.com/office/powerpoint/2010/main" val="11707510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CF564-3829-4D25-BA37-56E35B84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371C4-BBE2-40F7-B619-77B9C581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65C14-2A10-4BC4-9928-95B9EAF5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A0800-3CD8-4551-8121-6369DBBF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6FA6D-60A0-4D3E-887A-A156CCB4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DECISION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59542-F13C-4A40-A71A-E70AEB67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Re-X Decision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951FF-794B-4038-86AC-F8773AA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 route combines predicted SOH thresholds with safety overrides.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919BF-93DA-4007-9DB6-30F52F55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4210B-7B76-489F-97EE-0A17527C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backend/ml/soh_model.py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0FDD2-B25D-407E-BD94-71F0FA57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A960B-334F-41E6-BA70-290FB259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438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A34A">
              <a:alpha val="20000"/>
            </a:srgbClr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2A35F-04ED-4384-8481-C21C13E5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SOH &gt;= 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27D8A-FF0F-4A85-9535-25976AE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Reuse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895C9-B117-4908-A62D-15E51426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90800"/>
            <a:ext cx="438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9E0B">
              <a:alpha val="20000"/>
            </a:srgbClr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90B08-DD09-4741-8375-DC949FFA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241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60% &lt;= SOH &lt; 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03D88-6251-4D5E-B792-B2CB5743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Remanufacture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A2B74-8550-403B-A11C-F91C2CDF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438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2FD38-990D-4593-846A-4EB005C1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05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30% &lt;= SOH &lt; 60%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2A960-F036-49E0-B91B-2CF54D4D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Recycle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755EE-617B-47A0-8AAB-2ED145A6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52900"/>
            <a:ext cx="438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2626">
              <a:alpha val="20000"/>
            </a:srgbClr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543B4-563A-48C5-B391-2541A213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SOH &lt; 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3ACFA-A841-49F0-9273-16CAF462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Quarantine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56E55-0A12-4BCD-B8CF-492797F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3619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B8FA7-2B72-4514-8613-BE9EDEAD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54CEA-4660-448E-9805-13ED190D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90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Safety override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6251A-F0AB-432A-9F4E-6827CA48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645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Missing data, unknown type, abnormal voltage, high resistance, or very high temperature routes to quarantine.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4EE3E-EE72-4C3D-8197-5DC0B306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>
              <a:alpha val="13333"/>
            </a:srgbClr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8503D-C955-4CB6-B1B9-610D6FAF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3619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A52A65-6D76-408D-94B0-8DD70FB2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CAEAA-5364-46DA-B195-380F03E4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Backend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7F03A8-CEE4-416E-97F9-BFE684F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Route, target bin, risk score, risk level, confidence estimate, and explanation string.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24A24-E699-4553-961A-91DCB99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004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</p:spTree>
    <p:extLst>
      <p:ext uri="{BB962C8B-B14F-4D97-AF65-F5344CB8AC3E}">
        <p14:creationId xmlns:p14="http://schemas.microsoft.com/office/powerpoint/2010/main" val="1834433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DAA94-312D-4864-BB72-82779F6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33C2E-AFB2-449E-9F05-35320317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ACDA5-CE25-4A47-8F1B-850A3D71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10416-7C6B-497F-A6EE-C34890AF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98C9F-BEBA-4651-9629-B5A50BB1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UNITY TWIN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5FD1A-4FD2-4B9F-88C8-60DB1C74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Unity Digital Twin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E0721-82C6-45E1-B6D6-A54D9620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 simulation visualizes classification, sensor updates, SOH, route, and bin assignment.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05477-B57A-4A63-A6EA-4F8B8111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F3D90-A68B-4007-91EE-8C8B2B96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Unity scripts in Assets/Scripts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98D8F-52FF-4C63-9367-107A4A7F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6A8CE-DF6C-4BAA-BD56-8C1533AB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6AF62-BBEC-4EC2-88E4-EE293F0E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ED2CA-09FB-40A6-9493-6F5DAF62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Shape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BF7A5-1E40-418A-9DB7-87DDEA4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140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3D battery object changes to classified form factor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8BCA5-3F9B-4879-BDB4-4AAAA26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2D31C-C2F4-4345-A6E4-C01F5A38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05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CB8AA-72C6-4106-A437-AD00FAFF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Sensor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5BFCB-DD9B-4C64-ADFB-B35D844C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81275"/>
            <a:ext cx="140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floating panel shows voltage, temp, cycles, resistance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36A89-B0BA-438D-9850-8D5AE101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A646-E4D9-4EEA-AC31-B2FED8E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F6A63-C8C9-44D2-8106-646EC52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SOH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81D28-09A8-4A6E-A389-95A69D9B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81275"/>
            <a:ext cx="140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backend ML result updates each battery 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A4ECE-E635-4CD6-A551-0CC04D8B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409E6-9C64-4CC3-A7A1-751CED2F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3D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0880F-C283-4927-8F3F-F8260152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Route color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CE393-BEE4-4850-AB9D-0CF8FA8D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81275"/>
            <a:ext cx="140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material/bin color follows Re-X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962B7-E007-4F29-BB7F-B6A95117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479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93FFF2-4332-4284-A051-CB36BA97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479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FD1928-0DCA-4F63-A451-D110805A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7432E-3E9D-48C0-9159-C59A8124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C2EF81-2A07-4063-8A05-DA75CC0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910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Unity element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1179A-DFD8-4BBA-A31C-5B32CA54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433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20B90C-FA94-4C6C-AADE-78B5DC6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91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4914DC-F3A5-496E-A122-26A284F1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433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8D31FC-FF9E-4047-8B6F-4EA32B4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A58FBB-82B9-48A4-BC75-1D6B7299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433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283CB8-E9C9-42D2-8873-4580800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10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5E01CA-DF9B-4CA1-8155-E8C8009C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434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759D6F-2A18-4A21-A3CD-EF31EB25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Conveyor sequence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1AA200-8CAA-46BB-9C8E-F692D2C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434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92613D-2266-4689-80AD-49E1CD9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910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02CAE2-DC61-4CFF-A9AF-DCA240D9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434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861DE4-FAD4-4CA6-BADE-8E1EDCE3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ConveyorController.cs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3F0B10-4C50-465D-8CF1-6C12F6C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B5F4A0-91B9-4269-B4D9-C36BF8D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91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classification -&gt; sensors -&gt; ML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7C2CC1-D7E8-4DF1-99E1-B9CBD115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434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866B45-F9BA-420D-B85E-5CFD8A5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911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Floating panel per battery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FF7402-1D93-4963-B81E-B21B254D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434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989194-6B6B-417A-8837-187A87DD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911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AAA0C6-6A7E-4A29-88C3-8C9412E9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434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D5B30B-DAC4-4B0C-8EDB-C24B96AE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911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BatteryFloatingInfoPanel.cs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B8B9B5-68C6-4A81-9AA8-DDB41251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434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AAF672-A90B-4615-B5A3-35E2C94C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911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updates while moving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4FD6DE-ED08-49A9-A49F-578DBA0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435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B9C66E-7BEE-420B-8E22-82E98FDE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91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Selected battery panel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75D37B-4110-449D-BD50-1497999F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435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CDD66E-E61C-453C-9BAC-B7A389DF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911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6BE3AC-724B-45BC-9B88-29543CCC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435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1D4D1C-CA38-4794-9C96-2E153C39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91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BatterySelectionDetailPanel.cs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00B61F-D92A-4404-BE8D-10B92B59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435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C88E4B-7138-4015-AD35-C100FA1E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91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tap/click details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C8B25F-B8C1-406F-8956-F2D39715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435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321FB0-BD0D-4F71-8F36-50C6A1CB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91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Sensor values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A1A61A-6355-463C-B4CB-2161C08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435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FA9A7F-FBED-4409-A966-D8CD857A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912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Simulated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5A889B-C2BB-403E-8BB5-A130106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435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A18309-A95A-4A01-8347-166B9C6A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791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BatteryInspectionClient.cs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14F339-4376-4000-8FD3-607EDE4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435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38F708-3232-490E-8476-266F9CB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91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mock until hardware exists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3E4D14-9036-4F29-A118-CE01E440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9239250" cy="2000250"/>
          </a:xfrm>
          <a:prstGeom xmlns:a="http://schemas.openxmlformats.org/drawingml/2006/main" prst="roundRect">
            <a:avLst>
              <a:gd name="adj" fmla="val 381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4404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9065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9A0553-1DE3-480A-A7BD-3DB20A13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33139-7353-4E0F-B150-86DF3C1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91B06-93F6-4D71-BCF9-DDF4B36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48496-D302-4566-B477-05CCD7F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1067E-CB3C-4168-9AD5-21A37AF3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ROBOTICS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FC0FD-B6C8-45D2-8114-646A9C79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Robotic Sorting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5500D-B8AF-483A-84BC-51BCE48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 robot receives the target bin after the backend Re-X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D95C1-1B41-4999-83E0-533AC67E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F475C-FC23-40B0-8BC0-DD4071E9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RobotSorter.cs; ABBCRBArmController.cs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1B14F-3518-44F1-A8F6-BCFD810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27B2D-B228-4D3A-A7DC-1EC94DAC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B7C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FCB32-4ED5-4942-B31E-D6F0A8D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E8063-E7FD-4FC6-A769-D3181254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17A4A-9B95-4132-A0C6-DB49DA6B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5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74629-72F0-42AC-864D-0DE3FF12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5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1CC11-2698-49DF-8E6F-F84E8A75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5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02D07-D6E0-4C8E-9BDD-587B65B4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5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377E8-E9CB-4916-8D55-26FC1CE3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5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13CD5-F7D3-4139-9669-ED5D7335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857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7DEE6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51E9B-FCEC-4113-998F-81D8A8E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2248"/>
            <a:ext cx="95250" cy="97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369EE-B9DD-42A5-B44A-E1D5C75C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53149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4FBD4-C537-4796-A710-36B02AAB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AEBC2-985A-4B31-BE31-FAC025B3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6257F-84A8-42A8-B973-C3DA14F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Inspection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8B594-202A-45A2-A1B1-2A9FC6E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240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camera + sensors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89D2A-C6A0-462C-8D92-C8A90C6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D3195-B182-4946-8248-9A57CD0C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47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FA765-D1B6-4577-BA9B-02475DF9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28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ED2D0-DF62-4488-BD9A-7ADAD1E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240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SOH + rules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DC3831-28B1-420F-8A29-22B3D5A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F6267-B909-4C22-A745-002E91CD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47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1BCF1-7E93-407F-A455-9D56835F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28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Robot pick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AC8F4-D685-492D-9714-5DD75B2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240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gripper action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96A0D9-37C8-49EF-880F-ED56B833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14525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7E0AF6-7018-4D8E-9EA6-B18D581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5F0124-A3BD-4EC1-A718-236BE6FF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383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6A34A">
              <a:alpha val="20000"/>
            </a:srgbClr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1BCC6E-2439-46F3-8001-D65546E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Reuse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44E58E-345C-4925-B075-6074A675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146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9E0B">
              <a:alpha val="20000"/>
            </a:srgbClr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3987DE-3901-4BE5-BA75-2BC75B5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Reman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D33F41-E249-4C73-B5FD-65768A9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909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563EB">
              <a:alpha val="20000"/>
            </a:srgbClr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C9F6BF-B680-42A9-AF6F-A6AB6A27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433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Recycle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7C2960-90EC-480A-8166-FC578648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672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C2626">
              <a:alpha val="20000"/>
            </a:srgbClr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08FFA-176E-4E03-B77F-EEBD9B4F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196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Quarantine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4E3C6A-94E2-400E-8906-172BC069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286500" y="3143250"/>
            <a:ext cx="2857500" cy="1695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43973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11C8C0-B28B-4AAD-8D36-6064088E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4C06D-15C6-4F25-8D3A-464021C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B19CE-8B27-41D5-98D6-CBBC1E6A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95B26-0D6C-462A-86A4-64B3549C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58D95-B823-4A4A-AD85-DF22D7BE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85C46-6F1D-478D-B3E9-5FFE63D0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Backend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BD55E-E30D-49A9-A3C9-11C70AE9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FastAPI endpoints connect Unity, CV, SOH prediction, logs, and passports.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66835-4B1C-412A-AC0F-250BF3A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D49F7-EA15-4AD3-800C-37CF9C02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backend/main.py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EC008-CB71-4AD8-AB64-CBED5138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832E4-947A-4C68-890A-1F9E43B0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02DFC-66D2-43F8-9128-416FCD0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EC700-2B4A-465B-8516-4055DC2C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97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E2E36-3B73-480B-96CF-966A2204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50840-5F6B-481F-8DC5-30744A0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78F0A-84FE-4673-92FE-DF8D5C18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85E41-19DC-4BDE-BEE4-BA494111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2CE5E-C95F-4436-BA46-586C42A2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58CC3-24B6-470B-AA6A-B821D287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07A50-8DF6-49DD-86BE-8CD0640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/classify-battery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1BCEA-D847-4883-98F4-F2D5CC55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A0EEE-EB9A-4E1A-9D7E-5B6223C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image -&gt; 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C87EC-267A-4303-B8D1-686D4F4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B7032-0705-4FEC-89C1-908744BE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0AB8F-9F88-4E72-8D21-E626F5E7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5F798-38CA-486B-ADFE-3CC9EDD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Unity sends camera image; backend returns type and confidence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702C0-3C4B-4C42-B177-51D17199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CE511-BA03-47D8-9049-1FF0EBCF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/predict-soh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5E52B-4A0C-4395-B956-9C117BB6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AB3841-A78D-4E1D-B2B8-5F5EA973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health -&gt; SOH + route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BE347-0611-4454-825B-6ADB7574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FA1C70-2AA9-4F7C-950A-5710E59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CAE54-73C4-4781-8DEC-54D9A74C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7BF16-71CC-48E0-AD87-B6ECCEB1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Unity sends mock sensor values; backend returns Re-X category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1BBC58-6F62-4EE0-B01F-78191033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7CE649-4430-4264-9A85-65DC1344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/soh-model-metrics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8E0516-6764-4CD6-9C00-DE1AA636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EE9CDA-D715-4FE3-B7BF-D399464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03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model report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588A08-0621-4C96-9BB1-9425706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99EDC-687A-46DC-B7AF-33F398B7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8A486A-37B2-4E18-85CE-A72A5D50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81830C-F7BC-4072-8A96-F82DF233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Returns selected model and evaluation metrics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A039BA-90DB-48F1-BFE2-494052C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826088-8C14-4C74-B8EE-23E6CCF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/inspect-battery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66F09E-F152-49A0-AA7C-403C004D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E6D7EB-1031-4DDC-B419-7A122EFB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813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legacy full inspection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A3AFA2-2A7C-44AB-B0B6-59EE16D0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0A9385-1E96-4831-9697-F5949744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88BB2A-F25F-4A06-ABA3-F27FC67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D62446-9AF2-4FD9-A865-1E039D7C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Older combined image + lookup flow remains available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8874C7-628B-4B4E-84D0-4AF8258D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714892-0DA4-41B0-BFAA-3F347339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/train-soh-model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90F32F-5608-414B-9AFF-40C0FC2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DA3040-4B88-4F01-831D-8D67F375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train via API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E067F7-6181-4246-819B-436889D6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147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3DD82B-8875-4F93-BE99-3C1D6332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62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1AF14D-A361-41B7-BCB7-FC270FB7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C1724F-F9D5-4967-BEF5-1931F682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Training currently runs as scripts/train_soh_models.py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1A8B07-C5BE-406D-B2A0-0255CAA3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382250" cy="2286000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4404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C0F2B9-0854-45F7-9E52-40F96841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016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1FB416-1119-4C7D-90DB-AE1D8B4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361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050" b="0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  "cycle_count": 430,</a:t>
            </a:r>
          </a:p>
          <a:p xmlns:a="http://schemas.openxmlformats.org/drawingml/2006/main">
            <a:pPr algn="l">
              <a:defRPr sz="1050" b="0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  "temperature": 31.2,</a:t>
            </a:r>
          </a:p>
          <a:p xmlns:a="http://schemas.openxmlformats.org/drawingml/2006/main">
            <a:pPr algn="l">
              <a:defRPr sz="1050" b="0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  "resistance": 0.052,</a:t>
            </a:r>
          </a:p>
          <a:p xmlns:a="http://schemas.openxmlformats.org/drawingml/2006/main">
            <a:pPr algn="l">
              <a:defRPr sz="1050" b="0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  "voltage": 3.72</a:t>
            </a:r>
          </a:p>
          <a:p xmlns:a="http://schemas.openxmlformats.org/drawingml/2006/main">
            <a:pPr algn="l">
              <a:defRPr sz="1050" b="0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7CDADE-092E-48FD-8EC2-9BC8F7A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530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A17A21-297D-416C-8161-0029168A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016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81D5E4-0328-46FF-844A-8EE44657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361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050" b="0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  "predicted_soh": 94.49,</a:t>
            </a:r>
          </a:p>
          <a:p xmlns:a="http://schemas.openxmlformats.org/drawingml/2006/main">
            <a:pPr algn="l">
              <a:defRPr sz="1050" b="0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  "rex_category": "reuse",</a:t>
            </a:r>
          </a:p>
          <a:p xmlns:a="http://schemas.openxmlformats.org/drawingml/2006/main">
            <a:pPr algn="l">
              <a:defRPr sz="1050" b="0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  "model_used": "RandomForestRegressor"</a:t>
            </a:r>
          </a:p>
          <a:p xmlns:a="http://schemas.openxmlformats.org/drawingml/2006/main">
            <a:pPr algn="l">
              <a:defRPr sz="1050" b="0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22575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5891C-C8B1-4E2A-8486-302A6C84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E3578-274D-4064-9A6B-1149AC7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0CF90-B2D1-4CDA-B923-48514A10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D6DC0-ECBF-4AE9-A95C-6AB9AC08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9AC10-3565-40CE-9F6D-33783E3B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CASE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E05C7-8B39-4E05-847B-5987E899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Example End-to-End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8CD79-9C2C-473E-9626-CA0F56BD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A real API smoke test routes BAT_001 to reuse.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91C4C-66B9-4749-99BE-997FE4DE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CE71F-C257-4442-9FF7-6EC263B4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Source: backend /predict-soh smoke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D9F9A-5C38-4CDA-844B-A4B0C266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28A72-E208-49F7-AA99-86D1882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572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E1C26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AD6D3-E6CB-46CD-9D60-B28F00E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BAT_001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3393E-8C06-45F6-808B-6EEBBECA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86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7C2EE-DCFE-4BFE-8C44-63118C9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86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Cylindrical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21F79-44B7-445E-8549-FBDF0D2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Cycle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DF6CD-4686-4DC8-81E4-11BE09F2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9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430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167E6-A764-44A1-8EED-986320CE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55667-50BE-45C3-8470-C031405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31.2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93778-9BCC-42C8-99C0-7FF68628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Resistance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BC99F-770D-4C95-B577-5A42824B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57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0.052 ohm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008AA-DE3E-432F-B6D8-AFD63A7C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Voltage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95AFA-D746-4FEC-8217-D2971739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3.72 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C68B9-8D3D-449D-AAD5-5C8BF58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Predicted SOH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801C7-7F89-4A2E-8FC5-D6BC07A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05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94.49%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902BE-D77A-4A2B-81D7-42479B0F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011431-00EE-4DBF-8334-DB63337B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29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Reuse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4CDB2-27D4-4603-83B3-C3816BE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Target Bin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551C56-DE89-428E-BB72-F9C35D0F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53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reuse_bin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1C99A-E32A-4E0D-919B-5D81C29D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050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714F9-9D97-4682-9329-53A74976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9D6DA-CBB8-44B3-A602-4DCB2243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55E87-198E-41C7-BFC8-6DBB48A2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145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image classified as cylindrical + sensor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9C95EA-9F00-4691-BFF7-E8F6240A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D0392-EC94-42BD-A51D-1038D26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22D99D-B3DA-43B5-972D-873D18E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ML prediction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0916BF-D122-4067-ACAD-9A57F8E9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18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RandomForestRegressor predicts SOH 94.49%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22CDB6-C1A0-43EE-880F-0F785C3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96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631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A241F0-02F7-422A-B25C-CFD7F1A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3909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6147EA-3D5E-4A3A-99CE-6FD7B685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Unity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493EFA-6508-42CB-BF7E-AAB6104F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291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green material + reuse bin command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AF4BBB-6C27-4453-A712-D8C952CA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4191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298CBF-FA32-422C-8E51-3FE9304E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4191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28508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293AF-DE30-415E-AC75-B18A4BD5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7BA71-F345-4B95-AACC-3A94AC8F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37034-35DD-4A1C-8CF5-A1106DA2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AE5D7-37C3-4D7F-9612-C38D4C5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26C23-A19E-4EFB-A5F4-C44ADE4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D292-E70F-4E2D-95C4-BB068D2F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Results / Demo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370B6-4303-48AF-A1C0-63BB5FDD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Current outputs combine model evaluation and backend smoke-test routing.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B7BCC-C77C-4146-AEF8-EE2D6EAE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82C29-C7A4-454C-84B7-E4C1841D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model reports and backend smoke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0A6E2-D22E-4EA0-8B65-87EF4F5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3C34A-2DC2-4385-9A5B-A5155DE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85117-02E4-4BCE-84F1-2BAA6D5A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Battery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00126-BFFA-4267-8AB4-B93CF733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790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C1E95-A905-45A1-AEA5-8679E176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38325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A5702-1DA1-4B62-9D41-6E0A0E0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90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5F9B2-5D0F-4915-A66B-B6BE5EAC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838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1558F-49B7-4652-9D44-78C2A6AE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7907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77F21-6502-4639-A1FB-05567C5F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383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Re-X Category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38B3D-1168-4C1F-933C-401F4EC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90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D4A7D-64B5-423B-BDDF-23DAA4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383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A181A-96B1-447B-8643-A358017F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907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0E9A1-154F-429A-BDC9-89AC55FA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383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Unity/Backend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A5DDA-8DDC-4EBA-B203-5CF3FB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197F1-32E2-47C9-9A61-583F44DC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BAT_001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E00AB-9461-47FF-9ACF-432A7EFC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B3A22-3537-4153-8FDC-1A746CE3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cylindrical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F85B98-3A47-4678-B8B9-88850979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190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DBFC8-8686-4C89-97A7-7DD6EF51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2383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94.49%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28033-132F-472B-BA32-F104764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E921C-0D94-4252-BDE8-DAB31B0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383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6F850-33C7-4337-8FD6-0B4A0BC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211DB6-808B-4E45-935A-F560FDF1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3837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9335C-EB07-4976-AAFB-FACBBAFD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90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628AF6-7ACD-4EF0-AFD6-8EB9C6F3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383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reuse_bin / green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A7BFD1-2E2E-4078-A023-5BB2138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43F3C1-D8CA-4D57-9FF8-22A84D6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BAT_002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F7C64E-3CFC-4566-8420-F48AC30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90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1CF419-2373-48DA-83E1-0D5F3EE0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38425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pouch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663936-F666-4D69-AD1B-6561E165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5908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AC6A76-BB88-4BCE-A9E5-F21A8ED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384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94.52%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CEDDD7-18EC-4C44-AE05-46E85869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908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225D91-E3D2-45DF-BD0D-9DEF4083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38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reuse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214AD-85E1-484A-8618-EDA1F14F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90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F256BC-DD26-4FB6-80F9-AA2425B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384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B7150C-F508-4E24-92A4-88DE55DF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90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530FB0-21D6-40F3-A4B9-082FF613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384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reuse_bin / green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54ED8D-6A73-41C9-B75C-445A219E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BC2608-39AD-48A4-AEC0-1AD64C6A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BAT_003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3E1E5F-7737-4A50-89A9-31FE0491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908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9DBF9F-55FB-4534-A8A5-EFDF47B3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38475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prismatic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D34B5E-6309-44BC-BC91-48AE199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90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E54F0C-2B25-46CF-98E9-7A8C1297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38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67.91%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43DDC6-9801-4938-91B7-D23EDF4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908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515DE9-B6B0-41D7-942E-DC058111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384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remanufacture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665FE4-D702-4537-A1D1-041EBA5B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90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F3E564-1BEA-4BFB-9C68-898897F6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3847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AC3D34-7A4A-4698-BF57-CDC85D89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90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B8E2F0-2A08-4073-A59A-1B05746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3847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remanufacture_bin / yellow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38604C-C6B4-42FB-ABEA-FF2EED3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FF6CDF-94F3-4736-AF96-A85A32F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BAT_004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F3A924-AF24-40D4-92FD-BDFD0435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909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D6D3F4-1A49-464E-ACA1-62FD4C2F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38525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pouch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60C6DB-9569-463D-996C-B5AA98E7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909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9DDA71-2A74-4654-A18F-EA1D43BB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385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94.60%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4A7408-6826-41D1-BDD6-2D80EE96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909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3FC8BF-C229-40C3-9CC6-1B71B4D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385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quarantine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68BA4B-AE7F-4F51-9CB4-3EB23153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390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FD7DB3-2FCB-485F-8D9A-B9BECD7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385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D8226E-FED4-49A8-AF3E-EEA2B159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90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D5C5D0-9FFB-4B62-B7B6-6D7C720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385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safety override: high_temperature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8B06F4-2D10-4C5A-BC6D-0E5E7E29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429875" cy="2000250"/>
          </a:xfrm>
          <a:prstGeom xmlns:a="http://schemas.openxmlformats.org/drawingml/2006/main" prst="roundRect">
            <a:avLst>
              <a:gd name="adj" fmla="val 381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4404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1F7127-2BA8-401C-9139-471FF14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51F3D9-5A8B-4D17-9624-70BCF10C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B16BDC-1DD0-454C-86B6-10A7F8DA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Vision result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C7DDB07-5D0D-4A0C-A3CA-E55BDF56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0060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603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Selected CV model: HOG + Linear SVM, 98.89% mean 5-fold CV accuracy.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10FA8B-9A1D-489F-B813-F39F035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386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Evaluated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49AD44-1806-4E71-95D3-D17349D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8EC1C8-D83E-4BBB-974C-AA8473D9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54415D-F794-4CF8-8D02-CE968F3C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57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SOH result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601E3F3-C2C2-48F6-B5D5-56B864C8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0060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997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Selected SOH model: Random Forest, RMSE 0.7761 SOH percentage points.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4C8068F-1EE7-40A3-A99C-65AC5EC7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386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Evaluated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7BE5DC-E231-4449-82BD-D7001B3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34A884-B459-447B-A854-1AF80D52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DCF88B4-F5F5-4678-930F-31A77C70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Demo video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DD5BDD-3B26-4801-B7B7-8152F0B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73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No project video file found. Insert Unity demo recording here after capture.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4BEDC7-D56C-464F-94F7-EEDF574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4764161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536326-EE1B-432C-A4B4-1155004B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0D62C-7E9D-47FB-B982-2220920E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ECA92-6EB2-467B-86CC-AAD8781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018F7-8B1D-4193-A0FD-CDC23861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EE6C2-8C36-44AF-B510-A3DB5FF4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F9750-52D0-47B5-8B6B-0E0CF2A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Implementation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44F27-B094-4A70-981C-BA73E222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Each claim is labeled by current evidence in the repository.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06A3A-F144-46EB-9694-5EFF3628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7691E-0B24-4F56-AAE4-27483565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Sources: project files and generated model 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7CDBA-D2AD-490D-91EE-FBD5C811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99C0E-599D-408C-AB49-B2D87134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B355A-8934-4133-BC92-69690C6C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7DBCD-3695-4642-A3A4-3698871C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600200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9143A-DCA2-44E3-B42C-3D0A8634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47825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537CD-17C0-4BEA-8ED1-22DF694A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00200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400AB-8AF8-4C5D-AAB6-44A38BA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47825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Evidence/File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0FB39-B142-43D2-9004-3313FC33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600200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5E2AF-0075-46AA-BD89-EF48FD6D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478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AA1DF-5F71-4BF5-AAC1-82D71266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0F19E-BB5F-4843-8A49-47213884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RecyBat24 image subset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DD4EC-9D72-4763-9C13-B9532100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52625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ED008-6EC1-4F12-8380-231A50A2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00025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27C35-E896-4F8F-8FD2-DD7C6BBF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52625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5A971-EAC8-4F48-8D47-0B692911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data/images; data/image_sources.csv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97811-EC1C-439C-9694-4646A061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52625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3450A-CE6D-42F7-9728-463D437A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90 images, balanced classes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96C01-1646-4B02-9D2F-90E4018C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D5132-8736-441E-A854-44E28E81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CV classifier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9D8AA-93E7-4A33-9C19-674EF98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05050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CF8F7-4571-42B7-BDCD-FCE9C77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52675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2E764-9A3C-4364-B78B-AB1EB1E0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05050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5ABBA1-6EFD-4086-9670-59AFDC6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52675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3179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backend/model.py; trained_models/battery_type_classifier.joblib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A628FB-5C63-4EC4-8525-8BB4342D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05050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33D44C-5151-4689-81CB-F592BF2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5267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HOG + Linear SVM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C44590-9136-463E-9B98-6CBE2D43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FBC6E0-50D3-46D8-97A0-51CE6866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SOH ML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10F7F7-3F0B-4B91-869A-8B7D96F0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57475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6DB9EA-DEFC-4B61-B602-470353E9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051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0C9C3-F4E5-4EBB-8E26-3145AD2B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57475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12B63C-CD21-42BA-8F75-86E04777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05100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backend/ml/soh_model.py; soh_predictor.joblib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6862D1-4CA2-4473-B988-C3FBC7C6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57475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85D3CD-CC3F-479E-A0C5-E09501F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0510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Random Forest selected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F2C7E4-EB59-4256-8569-6B0A5EFF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5F1507-253C-4E1B-94FC-1C26D70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Mock health sensors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D3FA59-95BF-4B09-9C4D-7BDA5802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FA3B48-AF02-4E4A-9382-F097CBD8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57525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Simulated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5C0492-40F0-4BE0-884C-C26980A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09900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007CC6-3D67-4EF7-8DD9-3AFD30E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57525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BatteryInspectionClient.cs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FC02CC-41CD-41F4-95B6-1AD5F89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09900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E8B016-7BD7-4244-83F2-DA6F5BA3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575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Unity generates sensor values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B482B6-D401-4F39-8525-3F1039A3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03ED86-4765-4A42-A5C0-B967C9C5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Re-X routing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D71971-BA66-469A-BF1B-FF1C24E9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62325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0B1E3B-D068-48F5-B091-739A36F5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0995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5556EC-B6CB-4703-8CBA-408A5E2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62325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A9A444-9416-41E6-9845-E71D26A1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9950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backend/ml/soh_model.py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595534-D9B6-4A6F-9B35-06BA092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62325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6908B9-361A-435F-BC2A-2CEED369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099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SOH thresholds + safety rules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F9AA6C-7FC8-4AA8-830F-222B8C31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74A287-5FD5-4D1E-A366-AD17903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Unity digital twin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119C5F-855C-4160-A524-871725AC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14750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05949D-CB70-4ACC-8B1F-D0056A8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62375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39AB49-4FBE-4AE0-9E6D-E2E7B029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99CF63-CFB5-4F8C-B89C-3EF486D5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62375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Assets/Scripts/*.cs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FBA585-0A36-42EA-A4AC-057E7FA9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14750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0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F7E4F5-4F2A-405D-8561-7EFBC64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6237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visual workflow and panels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0315B4-4C48-48D1-A8F9-631D590E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24288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EAA4BC-2770-43E5-8703-A125CC72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314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Real BMS/robot hardware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90A883-8DE4-4CC2-8C1C-43A9966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67175"/>
            <a:ext cx="1762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0216002-AC3D-4287-AE31-6C5C1101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148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E7DC32-1500-436D-BE65-7DE85D89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67175"/>
            <a:ext cx="3286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69F210E-23CD-426E-915A-C1B791A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14800"/>
            <a:ext cx="3171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CF71E5-E2B1-4789-B99F-2688DC4B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67175"/>
            <a:ext cx="3619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27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FB26C4-B8F9-4826-8AFE-BA8667E7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1480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not connected in prototype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473176-A090-4AE9-A387-410DBB9F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96625" cy="2819400"/>
          </a:xfrm>
          <a:prstGeom xmlns:a="http://schemas.openxmlformats.org/drawingml/2006/main" prst="roundRect">
            <a:avLst>
              <a:gd name="adj" fmla="val 270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4404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2D45F3-BCC9-4CC8-A5C6-882A649C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477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Defense rule: implemented means code/artifact exists; simulated means software behavior exists without real hardware; planned means future scope.</a:t>
            </a:r>
          </a:p>
        </p:txBody>
      </p:sp>
    </p:spTree>
    <p:extLst>
      <p:ext uri="{BB962C8B-B14F-4D97-AF65-F5344CB8AC3E}">
        <p14:creationId xmlns:p14="http://schemas.microsoft.com/office/powerpoint/2010/main" val="20139843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61521E-0A22-415C-8EDF-033A4B8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3DAF8-7D77-4DEE-AC0B-F273D98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15195-5D68-4487-ABEE-117D5EC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F68C2-1B75-4456-9010-764C8CDE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669DF-2100-4C47-AB61-1C222A0A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15BAD-2B30-4206-A0EC-B73ED25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ED08B-C598-4235-A147-714CEDA7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 prototype is technically functional, but not an industrial validation system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7CAB1-0BFD-4EA3-9793-F15945D8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05655-2947-4A32-BB26-827C97C9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Project 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A744B-C751-46B2-B901-D09AD5BD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C2844-0E11-4873-9B37-E13FA83E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A3801-8563-4FCB-9934-99646E17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088A7-A988-40B9-8450-D550F27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Image cannot determine SOH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4D037-D281-46CF-B8AC-65FBB922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Images support shape detection and visible condition only. SOH requires health measurements.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B2AFB-AE44-4FF8-B52C-E5F5513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AD651-9BC7-4741-91BF-6D983051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035DD-6B73-4E89-A47B-295343D1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Dataset generalization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AFB92-D25A-481E-B885-B58FCDE6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NASA SOH training data is cylindrical-heavy and limited to 636 clean rows.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D2066-308D-4741-AAFC-8EFEDFC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B8266-1A32-4D7B-B4E5-1FE03CB1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44536-3C3D-47AD-84B6-6D89617B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Mock health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584A1-35D5-4604-991A-47F97BA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Unity uses random mock sensor inputs because no real sensor/BMS data stream is connected.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54C8B-AA48-4608-81D8-26AF042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3F500-FEB8-43BA-948F-6BEFC8A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D2A81-A12B-4B08-B845-694B340B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Safety certification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E60A9-730A-4AA1-ADE7-653F2453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Industrial routing would require validated safety rules, calibration, and hazardous material procedures.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21C60-4C27-46F8-84DF-9CA840AA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C3D57-1404-4F0A-8876-1390EE33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D5510-A0AC-4BFE-9487-20E6278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Robot hardware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483E3-1810-467D-93F6-FF13C4CC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767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 sorting workflow is simulated in Unity; real robot control is future work.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6FAE7-0A75-4CCF-8CF4-42AC54B2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7BE444-618F-4AA3-B9E6-48D6DB3C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9EB85-8E20-4F0F-A302-C7C52CE2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B2E6C3-FBB9-4F93-B000-C5628A3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Confidence is based on residual error estimate; production uncertainty needs stronger calibration.</a:t>
            </a:r>
          </a:p>
        </p:txBody>
      </p:sp>
    </p:spTree>
    <p:extLst>
      <p:ext uri="{BB962C8B-B14F-4D97-AF65-F5344CB8AC3E}">
        <p14:creationId xmlns:p14="http://schemas.microsoft.com/office/powerpoint/2010/main" val="5291686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71CA8A-1448-4D81-8201-EF9A3A8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665FE-2463-458B-B360-E6414E7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4B11A-1CE8-4C79-A26F-BE85BA80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64B71-2457-4548-A227-75374206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D72DE-B820-4EFE-AFC2-23F6B8D0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BEACB-E379-40F9-9A6A-BA1F6B6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Future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0698D-42F9-49AC-AB67-F9442375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The next stage is real sensor integration, broader data, and hardware-grade robotics.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47CBB-3625-46C9-B28D-7715B5D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75FD7-7830-4BAB-912C-64FC1D9F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Future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FF89F-5E4D-4F93-95AE-EF709599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EA51B-AA28-458F-B508-6DD29E9D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04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975D3-8CBF-4F40-8074-D7C3AE2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BC1A2-E9C6-4981-B6FD-CD4989B1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Real BMS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A39DA-1DDB-4C27-9F93-114B94DA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replace mock sensor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5E920-C705-4E0C-9E89-34E2604D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>
              <a:alpha val="13333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3CCF2-D6F3-42BB-B700-6384F88C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04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EC7F9-8716-46F4-A22F-C5FAB901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3B5F9-4398-4C96-9A51-D2F7201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Chemistry-specific 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906AB-68C6-45F3-B567-7CB5EA03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NMC / LFP / LCO calibration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F81B6-E7E1-4D7A-94B8-99680B3F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6F19E-347A-42D5-B5F9-9D242B15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04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61488-7390-4B3C-AB4E-0E9AF927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96367-EB21-4C75-B171-795DF09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CALCE + Oxford expansion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8EE01-45B6-4FD8-B712-27751FF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pouch/prismatic aging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3FE37-8CCC-4C36-936A-DBE7D064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431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66ABD-FB41-44E8-8C1B-54F81BD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304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FBCC1-9265-4D0D-8EF9-BFED227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7CDC4-AE3D-4778-99DF-7A727575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ROS 2 / Gazebo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6DB66-5734-48AC-860D-3B08BC74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robot control stack integration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025AC3-07A3-465C-93A2-E14748F4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05225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333"/>
            </a:srgbClr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8527FC-7671-488C-8F1E-439E94D7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71875"/>
            <a:ext cx="304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28EBDF-883C-4FFB-B72D-1A9429B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71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0A93B-74B8-4ECA-8FCA-85ADB586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242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Thermal / X-ray inspection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28F711-8AD5-4FE3-8756-E0BFAD2D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67175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safety and internal damage sensing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D3644B-86EE-4B05-9B1D-ADE89815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>
              <a:alpha val="13333"/>
            </a:srgbClr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E7796E-AE03-48F1-931E-AA1101A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304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B8E5C3-79AD-4A59-8145-6F156179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2717E2-00D3-4C18-A6A2-54BC3F0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242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Edge AI deployment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563F8-5CBB-4A61-9600-1B705DE3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67175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factory-line latency and robustness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7C9FD5-CA5C-4CBE-ABA0-5AF435E5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05225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5846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F7FA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7672070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C4DA2-8D98-4919-ABE6-44F9EF4A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F46BF-3C78-4B96-95FE-05EEF2D7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ED403-FFC0-4166-A0B3-8069550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DA214-817B-4DF7-AFE8-8F907B99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3AF29-3711-435D-A366-BB0EB71C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F11D4-D556-430F-B4FA-47FAD1AF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C3EE4-7E10-4B5B-B7EC-B2CD9FED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A proof-of-concept for circular battery lifecycle decision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227C9-6A98-4C61-A2A9-9145AE07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B9889-1F8E-4FBD-AA3F-43DC1EB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Project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7B06A-2E13-4362-B92B-9FCDCE0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A771C-1834-406D-9DDD-EB3264EF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I designed and implemented a modular Re-X decision pipeline that connects vision, health prediction, backend reasoning, Unity visualization, and robotic sorting logic.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D6930-A3F3-47C0-86E2-91A7EDED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B41A7-4B1A-409B-A185-29F1598B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EA436-8A4E-4FE7-B599-B8D072FF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Technically honest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A8217-EA42-42B4-ACDB-D4A7B2CF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Image = shape; health data = SOH; route = ML + safety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3E2B2-9FA1-4A57-BE6D-32374B4C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9417D-B815-4DB9-BC5A-EF32F495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B2E5D-1648-4560-B0BE-926647E3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76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Working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B9775-FE1D-4864-96DE-70147EC8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195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Models, API endpoints, Unity panels, and sorting flow are integrated.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DCE78-2016-4CC4-96B6-EC0465D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E28"/>
          </a:solidFill>
          <a:ln xmlns:a="http://schemas.openxmlformats.org/drawingml/2006/main" w="9525">
            <a:solidFill>
              <a:srgbClr val="2440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3E980-446C-4872-A6A9-0BB1EDE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50423-E77A-4C76-9452-C70B92DB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4F7FA"/>
                </a:solidFill>
                <a:latin typeface="Aptos"/>
                <a:ea typeface="Aptos"/>
                <a:cs typeface="Aptos"/>
              </a:rPr>
              <a:t>Clear next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97947-4AB0-4DBF-9E7D-196F4784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Connect real BMS/sensor data and extend aging datasets.</a:t>
            </a:r>
          </a:p>
        </p:txBody>
      </p:sp>
    </p:spTree>
    <p:extLst>
      <p:ext uri="{BB962C8B-B14F-4D97-AF65-F5344CB8AC3E}">
        <p14:creationId xmlns:p14="http://schemas.microsoft.com/office/powerpoint/2010/main" val="3296543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95961-E170-42DA-8FC2-38D8978B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33134-2510-455B-8700-19F6D0CD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99994-22B5-41C6-AEEE-419F8E81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10500" y="-571500"/>
            <a:ext cx="4953000" cy="1714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8DD79-EE49-4D8B-8916-5661DA6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-1047750" y="5524500"/>
            <a:ext cx="4381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E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2716A-816F-4EF6-9742-5AF286A3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33B46-5FB6-41DB-BBC8-F3B8069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 i="0">
                <a:solidFill>
                  <a:srgbClr val="F4F7FA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4265E-C5EC-4A9B-88EE-D2D8873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Battery Re-X Digital Twin and Robotic Sorting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31B4E-A591-49D5-A78C-CB59E0A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38300"/>
            <a:ext cx="1905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7DEE6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1C35B-EB73-416A-8E17-149BAA7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11668"/>
            <a:ext cx="95250" cy="234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4C991-C2A1-4494-864E-854A1D7F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14500"/>
            <a:ext cx="1181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9EA30-0DDD-489F-A12F-BAE2EE8A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1809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DEE6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AD508-0390-4C50-9722-873BED01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65158"/>
            <a:ext cx="95250" cy="222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01710-D406-4C57-A595-2119477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81325"/>
            <a:ext cx="112204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5D06B-3BCF-4ABC-8FCE-F6E546C0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809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DEE6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C0DA4-0A3C-443A-AB42-2B570149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31983"/>
            <a:ext cx="95250" cy="222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7406B-5DB2-4D4A-AB21-78D4AD12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112204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14F94-E625-4DDB-82D1-C86A5D63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CV + SOH ML + Re-X Decision + Unity Digital Twin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8899A-3A76-431C-A2FD-B60E591C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B5E81-6042-42FB-B677-22F3B1CD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D71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D7180"/>
                </a:solidFill>
                <a:latin typeface="Aptos"/>
                <a:ea typeface="Aptos"/>
                <a:cs typeface="Aptos"/>
              </a:rPr>
              <a:t>Q&amp;A | References: RecyBat24, NASA PCoE, project repository artifacts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4B418-7DAC-4925-8E27-B4FF3DB9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9B7C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9B7C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94204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2026-06-17T22:49:17.6370000Z</dcterms:created>
  <dcterms:modified xsi:type="dcterms:W3CDTF">2026-06-17T22:49:17.6370000Z</dcterms:modified>
</coreProperties>
</file>